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6.png" ContentType="image/png"/>
  <Override PartName="/ppt/media/image3.jpeg" ContentType="image/jpeg"/>
  <Override PartName="/ppt/media/image4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3588" cy="6858000"/>
  <p:notesSz cx="6858000" cy="1219358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Double-tap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9C9107FC-9E20-4387-B495-3B0EE1487642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1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DADE72-A9D6-43CF-AF61-F1600AEE52E1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628F16-54F1-44EE-9626-BE5836047934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7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5492D6-0AFB-4729-9186-6699C2EB9744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0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484AD5-2710-4447-B531-9749351C418D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3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9B46FE-7D0B-4425-83C8-51409AB6B722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2FDFAF-0AAF-4DEF-949B-4802425DF1F2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9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34E2A9-92D6-4DB0-83CA-62FC91D2B0D2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C293EC-FF34-4BC6-9C38-6DD03A6BEA8C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17DFF5-C5DC-41BD-9D6F-C8B22C5BB47C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DD4178-87C4-43A8-BAE9-E829A58C556E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1" name="Slide Number Placeholder 3"/>
          <p:cNvSpPr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F0BE78-F896-4BF0-A50D-B7B1F6884854}" type="slidenum">
              <a:rPr b="0" lang="en-US" sz="1200" strike="noStrike" u="none">
                <a:solidFill>
                  <a:srgbClr val="000000"/>
                </a:solidFill>
                <a:uFillTx/>
                <a:latin typeface="Aptos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FE19F6-F7F8-4A48-824A-02C3F0B298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5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2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162182-44F2-43D4-8526-D744BB788107}" type="slidenum">
              <a:rPr b="0" lang="en-IN" sz="1200" strike="noStrike" u="non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Double-tap to edit the outline text format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4158360" y="1490760"/>
            <a:ext cx="3876480" cy="387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rial"/>
              </a:rPr>
              <a:t>Double-tap to edit the outline text format</a:t>
            </a:r>
            <a:endParaRPr b="0" lang="en-US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ject 2" descr=""/>
          <p:cNvPicPr/>
          <p:nvPr/>
        </p:nvPicPr>
        <p:blipFill>
          <a:blip r:embed="rId1"/>
          <a:stretch/>
        </p:blipFill>
        <p:spPr>
          <a:xfrm>
            <a:off x="4194360" y="237600"/>
            <a:ext cx="4758120" cy="62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Box 4"/>
          <p:cNvSpPr/>
          <p:nvPr/>
        </p:nvSpPr>
        <p:spPr>
          <a:xfrm>
            <a:off x="3439800" y="5722560"/>
            <a:ext cx="6095520" cy="8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440" algn="ctr" defTabSz="914400">
              <a:lnSpc>
                <a:spcPct val="100000"/>
              </a:lnSpc>
              <a:spcBef>
                <a:spcPts val="995"/>
              </a:spcBef>
            </a:pPr>
            <a:r>
              <a:rPr b="0" lang="en-US" sz="2200" strike="noStrike" u="none">
                <a:solidFill>
                  <a:srgbClr val="943735"/>
                </a:solidFill>
                <a:uFillTx/>
                <a:latin typeface="Times New Roman"/>
              </a:rPr>
              <a:t>Department of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440" algn="ctr" defTabSz="914400">
              <a:lnSpc>
                <a:spcPct val="100000"/>
              </a:lnSpc>
              <a:spcBef>
                <a:spcPts val="995"/>
              </a:spcBef>
            </a:pPr>
            <a:r>
              <a:rPr b="0" lang="en-US" sz="2200" strike="noStrike" u="none">
                <a:solidFill>
                  <a:srgbClr val="943735"/>
                </a:solidFill>
                <a:uFillTx/>
                <a:latin typeface="Times New Roman"/>
              </a:rPr>
              <a:t>Artificial Intelligence and Machine Learning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TextBox 8"/>
          <p:cNvSpPr/>
          <p:nvPr/>
        </p:nvSpPr>
        <p:spPr>
          <a:xfrm>
            <a:off x="3226680" y="2636640"/>
            <a:ext cx="6095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30"/>
              </a:spcBef>
            </a:pPr>
            <a:r>
              <a:rPr b="0" lang="en-IN" sz="2200" strike="noStrike" u="none">
                <a:solidFill>
                  <a:srgbClr val="ff0000"/>
                </a:solidFill>
                <a:uFillTx/>
                <a:latin typeface="Times New Roman"/>
              </a:rPr>
              <a:t>Presented</a:t>
            </a:r>
            <a:r>
              <a:rPr b="0" lang="en-IN" sz="2200" spc="79" strike="noStrike" u="none">
                <a:solidFill>
                  <a:srgbClr val="ff0000"/>
                </a:solidFill>
                <a:uFillTx/>
                <a:latin typeface="Times New Roman"/>
              </a:rPr>
              <a:t> </a:t>
            </a:r>
            <a:r>
              <a:rPr b="0" lang="en-IN" sz="2200" spc="-26" strike="noStrike" u="none">
                <a:solidFill>
                  <a:srgbClr val="ff0000"/>
                </a:solidFill>
                <a:uFillTx/>
                <a:latin typeface="Times New Roman"/>
              </a:rPr>
              <a:t>by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TextBox 9"/>
          <p:cNvSpPr/>
          <p:nvPr/>
        </p:nvSpPr>
        <p:spPr>
          <a:xfrm>
            <a:off x="4158720" y="3067560"/>
            <a:ext cx="465840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640" rIns="8964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2">
                    <a:lumMod val="10000"/>
                  </a:schemeClr>
                </a:solidFill>
                <a:uFillTx/>
                <a:latin typeface="Aptos"/>
              </a:rPr>
              <a:t>B.BHANU PRAKASH     (25B11AI102)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2">
                    <a:lumMod val="10000"/>
                  </a:schemeClr>
                </a:solidFill>
                <a:uFillTx/>
                <a:latin typeface="Aptos"/>
              </a:rPr>
              <a:t>M.GANESH REDDY       (25B11AI772)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2">
                    <a:lumMod val="10000"/>
                  </a:schemeClr>
                </a:solidFill>
                <a:uFillTx/>
                <a:latin typeface="Aptos"/>
              </a:rPr>
              <a:t>T.SANTOSH REDDY       (25B11AIC08)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2000" strike="noStrike" u="none">
                <a:solidFill>
                  <a:schemeClr val="lt2">
                    <a:lumMod val="10000"/>
                  </a:schemeClr>
                </a:solidFill>
                <a:uFillTx/>
                <a:latin typeface="Aptos"/>
              </a:rPr>
              <a:t>G.SIVA RAMA SWAMY  (25B11AI382)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Box 10"/>
          <p:cNvSpPr/>
          <p:nvPr/>
        </p:nvSpPr>
        <p:spPr>
          <a:xfrm>
            <a:off x="1654920" y="1100880"/>
            <a:ext cx="9837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640" rIns="8964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rgbClr val="7030a0"/>
                </a:solidFill>
                <a:uFillTx/>
                <a:latin typeface="Aptos"/>
              </a:rPr>
              <a:t>DATA BASE MANAGEMENT SYSTEM(DBMS)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Box 11"/>
          <p:cNvSpPr/>
          <p:nvPr/>
        </p:nvSpPr>
        <p:spPr>
          <a:xfrm>
            <a:off x="2742480" y="1904040"/>
            <a:ext cx="7914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640" rIns="8964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chemeClr val="accent2"/>
                </a:solidFill>
                <a:uFillTx/>
                <a:latin typeface="Aptos"/>
              </a:rPr>
              <a:t>HOSPITAL MANAGEMENT SYSTEM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TextBox 1"/>
          <p:cNvSpPr/>
          <p:nvPr/>
        </p:nvSpPr>
        <p:spPr>
          <a:xfrm>
            <a:off x="5694840" y="4588200"/>
            <a:ext cx="1586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640" rIns="8964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7030a0"/>
                </a:solidFill>
                <a:uFillTx/>
                <a:latin typeface="Aptos"/>
              </a:rPr>
              <a:t>GUIDED BY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Box 3"/>
          <p:cNvSpPr/>
          <p:nvPr/>
        </p:nvSpPr>
        <p:spPr>
          <a:xfrm>
            <a:off x="3463200" y="5079240"/>
            <a:ext cx="6456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640" rIns="8964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002060"/>
                </a:solidFill>
                <a:uFillTx/>
                <a:latin typeface="Aptos"/>
              </a:rPr>
              <a:t>Mrs.  G.L. NARASAMBA VANGURI  MADAM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2188520" cy="82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5640" bIns="35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8321760" y="-1463760"/>
            <a:ext cx="5668560" cy="5670360"/>
          </a:xfrm>
          <a:prstGeom prst="ellipse">
            <a:avLst/>
          </a:prstGeom>
          <a:solidFill>
            <a:srgbClr val="1049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9509040" y="2378160"/>
            <a:ext cx="4206600" cy="4204800"/>
          </a:xfrm>
          <a:prstGeom prst="ellipse">
            <a:avLst/>
          </a:prstGeom>
          <a:solidFill>
            <a:srgbClr val="0e6f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10194840" y="685800"/>
            <a:ext cx="1371240" cy="437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10661760" y="219240"/>
            <a:ext cx="43920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10058400" y="3657600"/>
            <a:ext cx="1553760" cy="1828440"/>
          </a:xfrm>
          <a:prstGeom prst="can">
            <a:avLst>
              <a:gd name="adj" fmla="val 21250"/>
            </a:avLst>
          </a:prstGeom>
          <a:solidFill>
            <a:srgbClr val="12a594"/>
          </a:solidFill>
          <a:ln w="12600">
            <a:solidFill>
              <a:srgbClr val="d8f1e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8" name="Text 6"/>
          <p:cNvSpPr/>
          <p:nvPr/>
        </p:nvSpPr>
        <p:spPr>
          <a:xfrm>
            <a:off x="910080" y="2058480"/>
            <a:ext cx="7772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8fd4cb"/>
                </a:solidFill>
                <a:uFillTx/>
                <a:latin typeface="Calibri"/>
                <a:ea typeface="Calibri"/>
              </a:rPr>
              <a:t>DATABASE MANAGEMENT SYSTEM  |  MINI PROJECT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822240" y="3521160"/>
            <a:ext cx="2012760" cy="6300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560" bIns="165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0" name="Text 9"/>
          <p:cNvSpPr/>
          <p:nvPr/>
        </p:nvSpPr>
        <p:spPr>
          <a:xfrm>
            <a:off x="655920" y="5306040"/>
            <a:ext cx="7499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trike="noStrike" u="none">
                <a:solidFill>
                  <a:schemeClr val="accent2">
                    <a:lumMod val="50000"/>
                  </a:schemeClr>
                </a:solidFill>
                <a:uFillTx/>
                <a:latin typeface="Calibri"/>
                <a:ea typeface="Calibri"/>
              </a:rPr>
              <a:t>A centralized relational database solution for patient care, appointments, billing and pharmacy operations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960480" y="4764240"/>
            <a:ext cx="210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[ You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  ]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3565440" y="4508640"/>
            <a:ext cx="2103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3565440" y="4764240"/>
            <a:ext cx="210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[ Roll No. ]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6172200" y="4508640"/>
            <a:ext cx="2103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6172200" y="4764240"/>
            <a:ext cx="210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[ Department ]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960480" y="5632560"/>
            <a:ext cx="210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[ C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3565440" y="5632560"/>
            <a:ext cx="210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[ Guide Name ]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6172200" y="5632560"/>
            <a:ext cx="210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[ 20XX - 20XX ]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Box 29"/>
          <p:cNvSpPr/>
          <p:nvPr/>
        </p:nvSpPr>
        <p:spPr>
          <a:xfrm>
            <a:off x="10325160" y="6222960"/>
            <a:ext cx="183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" name="TextBox 1"/>
          <p:cNvSpPr/>
          <p:nvPr/>
        </p:nvSpPr>
        <p:spPr>
          <a:xfrm>
            <a:off x="783720" y="2241000"/>
            <a:ext cx="5420880" cy="16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5199"/>
              </a:lnSpc>
            </a:pPr>
            <a:r>
              <a:rPr b="1" lang="en-US" sz="3200" strike="noStrike" u="none">
                <a:solidFill>
                  <a:schemeClr val="dk2">
                    <a:lumMod val="50000"/>
                  </a:schemeClr>
                </a:solidFill>
                <a:uFillTx/>
                <a:latin typeface="Arial"/>
                <a:ea typeface="DejaVu Sans"/>
              </a:rPr>
              <a:t>Hospital Management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5199"/>
              </a:lnSpc>
            </a:pPr>
            <a:r>
              <a:rPr b="1" lang="en-US" sz="3200" strike="noStrike" u="none">
                <a:solidFill>
                  <a:schemeClr val="dk2">
                    <a:lumMod val="50000"/>
                  </a:schemeClr>
                </a:solidFill>
                <a:uFillTx/>
                <a:latin typeface="Arial"/>
                <a:ea typeface="DejaVu Sans"/>
              </a:rPr>
              <a:t>System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1" name="object 3" descr=""/>
          <p:cNvPicPr/>
          <p:nvPr/>
        </p:nvPicPr>
        <p:blipFill>
          <a:blip r:embed="rId1"/>
          <a:stretch/>
        </p:blipFill>
        <p:spPr>
          <a:xfrm>
            <a:off x="290880" y="204480"/>
            <a:ext cx="1755360" cy="89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266400" y="33336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Abstract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8778960" y="38412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trike="noStrike" u="none">
                <a:solidFill>
                  <a:srgbClr val="dcebf7"/>
                </a:solidFill>
                <a:uFillTx/>
                <a:latin typeface="Calibri"/>
                <a:ea typeface="Calibri"/>
              </a:rPr>
              <a:t>01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549360" y="1325520"/>
            <a:ext cx="5486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22364a"/>
                </a:solidFill>
                <a:uFillTx/>
                <a:latin typeface="Calibri"/>
                <a:ea typeface="Calibri"/>
              </a:rPr>
              <a:t>The Hospital Management System (HMS) is a database-driven application that automates core hospital operations — patient registration, doctor and staff management, appointments, billing, pharmacy and prescriptions — through one centralized relational database.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549360" y="2879640"/>
            <a:ext cx="5486040" cy="502920"/>
          </a:xfrm>
          <a:prstGeom prst="roundRect">
            <a:avLst>
              <a:gd name="adj" fmla="val 1454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685800" y="2971800"/>
            <a:ext cx="320400" cy="32040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9" name="Text 8"/>
          <p:cNvSpPr/>
          <p:nvPr/>
        </p:nvSpPr>
        <p:spPr>
          <a:xfrm>
            <a:off x="685800" y="2971800"/>
            <a:ext cx="3204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✓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1143000" y="2879640"/>
            <a:ext cx="47541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Reduced paperwork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549360" y="3484440"/>
            <a:ext cx="5486040" cy="501480"/>
          </a:xfrm>
          <a:prstGeom prst="roundRect">
            <a:avLst>
              <a:gd name="adj" fmla="val 1454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685800" y="3575160"/>
            <a:ext cx="320400" cy="32004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685800" y="3575160"/>
            <a:ext cx="32040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✓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1143000" y="3484440"/>
            <a:ext cx="4754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Improved operational efficiency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Shape 14"/>
          <p:cNvSpPr/>
          <p:nvPr/>
        </p:nvSpPr>
        <p:spPr>
          <a:xfrm>
            <a:off x="549360" y="4087800"/>
            <a:ext cx="5486040" cy="502920"/>
          </a:xfrm>
          <a:prstGeom prst="roundRect">
            <a:avLst>
              <a:gd name="adj" fmla="val 1454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685800" y="4178160"/>
            <a:ext cx="320400" cy="32040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685800" y="4178160"/>
            <a:ext cx="3204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✓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1143000" y="4087800"/>
            <a:ext cx="47541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Secure, role-based data storage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Shape 18"/>
          <p:cNvSpPr/>
          <p:nvPr/>
        </p:nvSpPr>
        <p:spPr>
          <a:xfrm>
            <a:off x="549360" y="4691160"/>
            <a:ext cx="5486040" cy="502920"/>
          </a:xfrm>
          <a:prstGeom prst="roundRect">
            <a:avLst>
              <a:gd name="adj" fmla="val 1454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60" name="Shape 19"/>
          <p:cNvSpPr/>
          <p:nvPr/>
        </p:nvSpPr>
        <p:spPr>
          <a:xfrm>
            <a:off x="685800" y="4781520"/>
            <a:ext cx="320400" cy="32040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61" name="Text 20"/>
          <p:cNvSpPr/>
          <p:nvPr/>
        </p:nvSpPr>
        <p:spPr>
          <a:xfrm>
            <a:off x="685800" y="4781520"/>
            <a:ext cx="3204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✓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1143000" y="4691160"/>
            <a:ext cx="47541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Single centralized database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Shape 22"/>
          <p:cNvSpPr/>
          <p:nvPr/>
        </p:nvSpPr>
        <p:spPr>
          <a:xfrm>
            <a:off x="549360" y="5294160"/>
            <a:ext cx="5486040" cy="502920"/>
          </a:xfrm>
          <a:prstGeom prst="roundRect">
            <a:avLst>
              <a:gd name="adj" fmla="val 1454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64" name="Shape 23"/>
          <p:cNvSpPr/>
          <p:nvPr/>
        </p:nvSpPr>
        <p:spPr>
          <a:xfrm>
            <a:off x="685800" y="5386320"/>
            <a:ext cx="320400" cy="31896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65" name="Text 24"/>
          <p:cNvSpPr/>
          <p:nvPr/>
        </p:nvSpPr>
        <p:spPr>
          <a:xfrm>
            <a:off x="685800" y="5386320"/>
            <a:ext cx="320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✓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 25"/>
          <p:cNvSpPr/>
          <p:nvPr/>
        </p:nvSpPr>
        <p:spPr>
          <a:xfrm>
            <a:off x="1143000" y="5294160"/>
            <a:ext cx="47541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Better and faster patient care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Shape 26"/>
          <p:cNvSpPr/>
          <p:nvPr/>
        </p:nvSpPr>
        <p:spPr>
          <a:xfrm>
            <a:off x="6950160" y="2103480"/>
            <a:ext cx="2057400" cy="1600200"/>
          </a:xfrm>
          <a:prstGeom prst="line">
            <a:avLst/>
          </a:prstGeom>
          <a:ln w="15840">
            <a:solidFill>
              <a:srgbClr val="a9c3d8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68" name="Shape 27"/>
          <p:cNvSpPr/>
          <p:nvPr/>
        </p:nvSpPr>
        <p:spPr>
          <a:xfrm>
            <a:off x="6199200" y="1828800"/>
            <a:ext cx="1499760" cy="549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80">
            <a:solidFill>
              <a:srgbClr val="12a59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69" name="Text 28"/>
          <p:cNvSpPr/>
          <p:nvPr/>
        </p:nvSpPr>
        <p:spPr>
          <a:xfrm>
            <a:off x="6199200" y="1828800"/>
            <a:ext cx="14997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Patients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Shape 29"/>
          <p:cNvSpPr/>
          <p:nvPr/>
        </p:nvSpPr>
        <p:spPr>
          <a:xfrm>
            <a:off x="9007560" y="1646280"/>
            <a:ext cx="360" cy="2057400"/>
          </a:xfrm>
          <a:prstGeom prst="line">
            <a:avLst/>
          </a:prstGeom>
          <a:ln w="15840">
            <a:solidFill>
              <a:srgbClr val="a9c3d8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71" name="Shape 30"/>
          <p:cNvSpPr/>
          <p:nvPr/>
        </p:nvSpPr>
        <p:spPr>
          <a:xfrm>
            <a:off x="8256600" y="1371600"/>
            <a:ext cx="1499760" cy="549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80">
            <a:solidFill>
              <a:srgbClr val="166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72" name="Text 31"/>
          <p:cNvSpPr/>
          <p:nvPr/>
        </p:nvSpPr>
        <p:spPr>
          <a:xfrm>
            <a:off x="8256600" y="1371600"/>
            <a:ext cx="14997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Doctors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Shape 32"/>
          <p:cNvSpPr/>
          <p:nvPr/>
        </p:nvSpPr>
        <p:spPr>
          <a:xfrm flipH="1">
            <a:off x="9007200" y="2103480"/>
            <a:ext cx="2057400" cy="1600200"/>
          </a:xfrm>
          <a:prstGeom prst="line">
            <a:avLst/>
          </a:prstGeom>
          <a:ln w="15840">
            <a:solidFill>
              <a:srgbClr val="a9c3d8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74" name="Shape 33"/>
          <p:cNvSpPr/>
          <p:nvPr/>
        </p:nvSpPr>
        <p:spPr>
          <a:xfrm>
            <a:off x="10314000" y="1828800"/>
            <a:ext cx="1499760" cy="549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80">
            <a:solidFill>
              <a:srgbClr val="12a59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10314000" y="1828800"/>
            <a:ext cx="14997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Pharmacy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Shape 35"/>
          <p:cNvSpPr/>
          <p:nvPr/>
        </p:nvSpPr>
        <p:spPr>
          <a:xfrm flipH="1">
            <a:off x="6949800" y="3703680"/>
            <a:ext cx="2057400" cy="1600200"/>
          </a:xfrm>
          <a:prstGeom prst="line">
            <a:avLst/>
          </a:prstGeom>
          <a:ln w="15840">
            <a:solidFill>
              <a:srgbClr val="a9c3d8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77" name="Shape 36"/>
          <p:cNvSpPr/>
          <p:nvPr/>
        </p:nvSpPr>
        <p:spPr>
          <a:xfrm>
            <a:off x="6199200" y="5029200"/>
            <a:ext cx="1499760" cy="549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80">
            <a:solidFill>
              <a:srgbClr val="166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78" name="Text 37"/>
          <p:cNvSpPr/>
          <p:nvPr/>
        </p:nvSpPr>
        <p:spPr>
          <a:xfrm>
            <a:off x="6199200" y="5029200"/>
            <a:ext cx="14997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Laboratory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Shape 38"/>
          <p:cNvSpPr/>
          <p:nvPr/>
        </p:nvSpPr>
        <p:spPr>
          <a:xfrm>
            <a:off x="9007560" y="3703680"/>
            <a:ext cx="360" cy="2057400"/>
          </a:xfrm>
          <a:prstGeom prst="line">
            <a:avLst/>
          </a:prstGeom>
          <a:ln w="15840">
            <a:solidFill>
              <a:srgbClr val="a9c3d8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80" name="Shape 39"/>
          <p:cNvSpPr/>
          <p:nvPr/>
        </p:nvSpPr>
        <p:spPr>
          <a:xfrm>
            <a:off x="8256600" y="5486400"/>
            <a:ext cx="1499760" cy="549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80">
            <a:solidFill>
              <a:srgbClr val="12a59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81" name="Text 40"/>
          <p:cNvSpPr/>
          <p:nvPr/>
        </p:nvSpPr>
        <p:spPr>
          <a:xfrm>
            <a:off x="8256600" y="5486400"/>
            <a:ext cx="14997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Billing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Shape 41"/>
          <p:cNvSpPr/>
          <p:nvPr/>
        </p:nvSpPr>
        <p:spPr>
          <a:xfrm>
            <a:off x="9007560" y="3703680"/>
            <a:ext cx="2057400" cy="1600200"/>
          </a:xfrm>
          <a:prstGeom prst="line">
            <a:avLst/>
          </a:prstGeom>
          <a:ln w="15840">
            <a:solidFill>
              <a:srgbClr val="a9c3d8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83" name="Shape 42"/>
          <p:cNvSpPr/>
          <p:nvPr/>
        </p:nvSpPr>
        <p:spPr>
          <a:xfrm>
            <a:off x="10314000" y="5029200"/>
            <a:ext cx="1499760" cy="549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80">
            <a:solidFill>
              <a:srgbClr val="166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84" name="Text 43"/>
          <p:cNvSpPr/>
          <p:nvPr/>
        </p:nvSpPr>
        <p:spPr>
          <a:xfrm>
            <a:off x="10314000" y="5029200"/>
            <a:ext cx="14997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Departments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Shape 44"/>
          <p:cNvSpPr/>
          <p:nvPr/>
        </p:nvSpPr>
        <p:spPr>
          <a:xfrm>
            <a:off x="7954920" y="3154320"/>
            <a:ext cx="2103120" cy="1096560"/>
          </a:xfrm>
          <a:prstGeom prst="roundRect">
            <a:avLst>
              <a:gd name="adj" fmla="val 8333"/>
            </a:avLst>
          </a:prstGeom>
          <a:solidFill>
            <a:srgbClr val="0b3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86" name="Text 45"/>
          <p:cNvSpPr/>
          <p:nvPr/>
        </p:nvSpPr>
        <p:spPr>
          <a:xfrm>
            <a:off x="7954920" y="3154320"/>
            <a:ext cx="2103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CENTRAL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HOSPITAL DATABASE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 46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 47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2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9" name="object 3" descr=""/>
          <p:cNvPicPr/>
          <p:nvPr/>
        </p:nvPicPr>
        <p:blipFill>
          <a:blip r:embed="rId1"/>
          <a:stretch/>
        </p:blipFill>
        <p:spPr>
          <a:xfrm>
            <a:off x="9783720" y="238320"/>
            <a:ext cx="213012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57200" y="32868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92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Problem Statement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8778960" y="38412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trike="noStrike" u="none">
                <a:solidFill>
                  <a:srgbClr val="dcebf7"/>
                </a:solidFill>
                <a:uFillTx/>
                <a:latin typeface="Calibri"/>
                <a:ea typeface="Calibri"/>
              </a:rPr>
              <a:t>02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461880" y="2322360"/>
            <a:ext cx="260496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600">
            <a:solidFill>
              <a:srgbClr val="fbe7d6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608040" y="2541600"/>
            <a:ext cx="383760" cy="383760"/>
          </a:xfrm>
          <a:prstGeom prst="ellipse">
            <a:avLst/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96" name="Text 7"/>
          <p:cNvSpPr/>
          <p:nvPr/>
        </p:nvSpPr>
        <p:spPr>
          <a:xfrm>
            <a:off x="608040" y="2541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!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1084320" y="2432160"/>
            <a:ext cx="1872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Manual paperwork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1084320" y="2706840"/>
            <a:ext cx="1872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Registers and files consume time and space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3251160" y="2322360"/>
            <a:ext cx="260460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600">
            <a:solidFill>
              <a:srgbClr val="fbe7d6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3397320" y="2541600"/>
            <a:ext cx="383760" cy="383760"/>
          </a:xfrm>
          <a:prstGeom prst="ellipse">
            <a:avLst/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3397320" y="2541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!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3871800" y="2432160"/>
            <a:ext cx="1874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Data redundancy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3871800" y="2706840"/>
            <a:ext cx="187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Same patient recorded many times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461880" y="3282840"/>
            <a:ext cx="260496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600">
            <a:solidFill>
              <a:srgbClr val="fbe7d6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5" name="Shape 16"/>
          <p:cNvSpPr/>
          <p:nvPr/>
        </p:nvSpPr>
        <p:spPr>
          <a:xfrm>
            <a:off x="608040" y="3502080"/>
            <a:ext cx="383760" cy="383760"/>
          </a:xfrm>
          <a:prstGeom prst="ellipse">
            <a:avLst/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608040" y="3502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!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1084320" y="3392640"/>
            <a:ext cx="1872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Appointment conflicts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 19"/>
          <p:cNvSpPr/>
          <p:nvPr/>
        </p:nvSpPr>
        <p:spPr>
          <a:xfrm>
            <a:off x="1084320" y="3666960"/>
            <a:ext cx="187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Double booking of doctor slots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Shape 20"/>
          <p:cNvSpPr/>
          <p:nvPr/>
        </p:nvSpPr>
        <p:spPr>
          <a:xfrm>
            <a:off x="3251160" y="3282840"/>
            <a:ext cx="260460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600">
            <a:solidFill>
              <a:srgbClr val="fbe7d6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10" name="Shape 21"/>
          <p:cNvSpPr/>
          <p:nvPr/>
        </p:nvSpPr>
        <p:spPr>
          <a:xfrm>
            <a:off x="3397320" y="3502080"/>
            <a:ext cx="383760" cy="383760"/>
          </a:xfrm>
          <a:prstGeom prst="ellipse">
            <a:avLst/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3397320" y="3502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!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 23"/>
          <p:cNvSpPr/>
          <p:nvPr/>
        </p:nvSpPr>
        <p:spPr>
          <a:xfrm>
            <a:off x="3871800" y="3392640"/>
            <a:ext cx="1874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Billing errors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3871800" y="3666960"/>
            <a:ext cx="187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Manual calculation mistakes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Shape 25"/>
          <p:cNvSpPr/>
          <p:nvPr/>
        </p:nvSpPr>
        <p:spPr>
          <a:xfrm>
            <a:off x="461880" y="4243320"/>
            <a:ext cx="2604960" cy="8218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600">
            <a:solidFill>
              <a:srgbClr val="fbe7d6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608040" y="4462560"/>
            <a:ext cx="383760" cy="383760"/>
          </a:xfrm>
          <a:prstGeom prst="ellipse">
            <a:avLst/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16" name="Text 27"/>
          <p:cNvSpPr/>
          <p:nvPr/>
        </p:nvSpPr>
        <p:spPr>
          <a:xfrm>
            <a:off x="608040" y="4462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!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 28"/>
          <p:cNvSpPr/>
          <p:nvPr/>
        </p:nvSpPr>
        <p:spPr>
          <a:xfrm>
            <a:off x="1084320" y="4352760"/>
            <a:ext cx="1872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Slow history retrieval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 29"/>
          <p:cNvSpPr/>
          <p:nvPr/>
        </p:nvSpPr>
        <p:spPr>
          <a:xfrm>
            <a:off x="1084320" y="4627440"/>
            <a:ext cx="187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Past records are hard to trace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Shape 30"/>
          <p:cNvSpPr/>
          <p:nvPr/>
        </p:nvSpPr>
        <p:spPr>
          <a:xfrm>
            <a:off x="3251160" y="4243320"/>
            <a:ext cx="2604600" cy="8218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600">
            <a:solidFill>
              <a:srgbClr val="fbe7d6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0" name="Shape 31"/>
          <p:cNvSpPr/>
          <p:nvPr/>
        </p:nvSpPr>
        <p:spPr>
          <a:xfrm>
            <a:off x="3397320" y="4462560"/>
            <a:ext cx="383760" cy="383760"/>
          </a:xfrm>
          <a:prstGeom prst="ellipse">
            <a:avLst/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1" name="Text 32"/>
          <p:cNvSpPr/>
          <p:nvPr/>
        </p:nvSpPr>
        <p:spPr>
          <a:xfrm>
            <a:off x="3397320" y="4462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!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 33"/>
          <p:cNvSpPr/>
          <p:nvPr/>
        </p:nvSpPr>
        <p:spPr>
          <a:xfrm>
            <a:off x="3871800" y="4352760"/>
            <a:ext cx="1874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No centralized records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 34"/>
          <p:cNvSpPr/>
          <p:nvPr/>
        </p:nvSpPr>
        <p:spPr>
          <a:xfrm>
            <a:off x="3871800" y="4627440"/>
            <a:ext cx="187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Departments work in isolation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Shape 35"/>
          <p:cNvSpPr/>
          <p:nvPr/>
        </p:nvSpPr>
        <p:spPr>
          <a:xfrm>
            <a:off x="6446880" y="1417680"/>
            <a:ext cx="2514240" cy="4068360"/>
          </a:xfrm>
          <a:custGeom>
            <a:avLst/>
            <a:gdLst>
              <a:gd name="textAreaLeft" fmla="*/ 21240 w 2514240"/>
              <a:gd name="textAreaRight" fmla="*/ 2493360 w 2514240"/>
              <a:gd name="textAreaTop" fmla="*/ 21240 h 4068360"/>
              <a:gd name="textAreaBottom" fmla="*/ 4047480 h 4068360"/>
            </a:gdLst>
            <a:ahLst/>
            <a:rect l="textAreaLeft" t="textAreaTop" r="textAreaRight" b="textAreaBottom"/>
            <a:pathLst>
              <a:path w="21600" h="34948">
                <a:moveTo>
                  <a:pt x="628" y="0"/>
                </a:moveTo>
                <a:arcTo wR="628" hR="628" stAng="16200000" swAng="-5400000"/>
                <a:lnTo>
                  <a:pt x="0" y="34320"/>
                </a:lnTo>
                <a:arcTo wR="628" hR="628" stAng="10800000" swAng="-5400000"/>
                <a:lnTo>
                  <a:pt x="20972" y="34948"/>
                </a:lnTo>
                <a:arcTo wR="628" hR="628" stAng="5400000" swAng="-5400000"/>
                <a:lnTo>
                  <a:pt x="21600" y="628"/>
                </a:lnTo>
                <a:arcTo wR="628" hR="628" stAng="0" swAng="-5400000"/>
                <a:close/>
              </a:path>
            </a:pathLst>
          </a:custGeom>
          <a:solidFill>
            <a:srgbClr val="ffffff"/>
          </a:solidFill>
          <a:ln w="12600">
            <a:solidFill>
              <a:srgbClr val="e07a2f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5" name="Shape 36"/>
          <p:cNvSpPr/>
          <p:nvPr/>
        </p:nvSpPr>
        <p:spPr>
          <a:xfrm>
            <a:off x="6446880" y="1417680"/>
            <a:ext cx="2514240" cy="593280"/>
          </a:xfrm>
          <a:prstGeom prst="roundRect">
            <a:avLst>
              <a:gd name="adj" fmla="val 12310"/>
            </a:avLst>
          </a:prstGeom>
          <a:solidFill>
            <a:srgbClr val="e07a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6" name="Text 37"/>
          <p:cNvSpPr/>
          <p:nvPr/>
        </p:nvSpPr>
        <p:spPr>
          <a:xfrm>
            <a:off x="6446880" y="1417680"/>
            <a:ext cx="25142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Traditional System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Shape 38"/>
          <p:cNvSpPr/>
          <p:nvPr/>
        </p:nvSpPr>
        <p:spPr>
          <a:xfrm>
            <a:off x="6610320" y="2212920"/>
            <a:ext cx="2195280" cy="502920"/>
          </a:xfrm>
          <a:prstGeom prst="roundRect">
            <a:avLst>
              <a:gd name="adj" fmla="val 10907"/>
            </a:avLst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8" name="Text 39"/>
          <p:cNvSpPr/>
          <p:nvPr/>
        </p:nvSpPr>
        <p:spPr>
          <a:xfrm>
            <a:off x="6738840" y="2212920"/>
            <a:ext cx="20109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Paper registers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Shape 40"/>
          <p:cNvSpPr/>
          <p:nvPr/>
        </p:nvSpPr>
        <p:spPr>
          <a:xfrm>
            <a:off x="6610320" y="2852640"/>
            <a:ext cx="2195280" cy="502920"/>
          </a:xfrm>
          <a:prstGeom prst="roundRect">
            <a:avLst>
              <a:gd name="adj" fmla="val 10907"/>
            </a:avLst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0" name="Text 41"/>
          <p:cNvSpPr/>
          <p:nvPr/>
        </p:nvSpPr>
        <p:spPr>
          <a:xfrm>
            <a:off x="6738840" y="2852640"/>
            <a:ext cx="20109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Duplicate entries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Shape 42"/>
          <p:cNvSpPr/>
          <p:nvPr/>
        </p:nvSpPr>
        <p:spPr>
          <a:xfrm>
            <a:off x="6610320" y="3492360"/>
            <a:ext cx="2195280" cy="502920"/>
          </a:xfrm>
          <a:prstGeom prst="roundRect">
            <a:avLst>
              <a:gd name="adj" fmla="val 10907"/>
            </a:avLst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2" name="Text 43"/>
          <p:cNvSpPr/>
          <p:nvPr/>
        </p:nvSpPr>
        <p:spPr>
          <a:xfrm>
            <a:off x="6738840" y="3492360"/>
            <a:ext cx="20109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Manual billing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Shape 44"/>
          <p:cNvSpPr/>
          <p:nvPr/>
        </p:nvSpPr>
        <p:spPr>
          <a:xfrm>
            <a:off x="6610320" y="4133880"/>
            <a:ext cx="2195280" cy="501120"/>
          </a:xfrm>
          <a:prstGeom prst="roundRect">
            <a:avLst>
              <a:gd name="adj" fmla="val 10907"/>
            </a:avLst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4" name="Text 45"/>
          <p:cNvSpPr/>
          <p:nvPr/>
        </p:nvSpPr>
        <p:spPr>
          <a:xfrm>
            <a:off x="6738840" y="4133880"/>
            <a:ext cx="2010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Slow retrieval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Shape 46"/>
          <p:cNvSpPr/>
          <p:nvPr/>
        </p:nvSpPr>
        <p:spPr>
          <a:xfrm>
            <a:off x="6610320" y="4773600"/>
            <a:ext cx="2195280" cy="502920"/>
          </a:xfrm>
          <a:prstGeom prst="roundRect">
            <a:avLst>
              <a:gd name="adj" fmla="val 10907"/>
            </a:avLst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6" name="Text 47"/>
          <p:cNvSpPr/>
          <p:nvPr/>
        </p:nvSpPr>
        <p:spPr>
          <a:xfrm>
            <a:off x="6738840" y="4773600"/>
            <a:ext cx="20109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Data loss risk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Shape 48"/>
          <p:cNvSpPr/>
          <p:nvPr/>
        </p:nvSpPr>
        <p:spPr>
          <a:xfrm>
            <a:off x="9144000" y="1417680"/>
            <a:ext cx="2514240" cy="4068360"/>
          </a:xfrm>
          <a:custGeom>
            <a:avLst/>
            <a:gdLst>
              <a:gd name="textAreaLeft" fmla="*/ 21240 w 2514240"/>
              <a:gd name="textAreaRight" fmla="*/ 2493360 w 2514240"/>
              <a:gd name="textAreaTop" fmla="*/ 21240 h 4068360"/>
              <a:gd name="textAreaBottom" fmla="*/ 4047480 h 4068360"/>
            </a:gdLst>
            <a:ahLst/>
            <a:rect l="textAreaLeft" t="textAreaTop" r="textAreaRight" b="textAreaBottom"/>
            <a:pathLst>
              <a:path w="21600" h="34948">
                <a:moveTo>
                  <a:pt x="628" y="0"/>
                </a:moveTo>
                <a:arcTo wR="628" hR="628" stAng="16200000" swAng="-5400000"/>
                <a:lnTo>
                  <a:pt x="0" y="34320"/>
                </a:lnTo>
                <a:arcTo wR="628" hR="628" stAng="10800000" swAng="-5400000"/>
                <a:lnTo>
                  <a:pt x="20972" y="34948"/>
                </a:lnTo>
                <a:arcTo wR="628" hR="628" stAng="5400000" swAng="-5400000"/>
                <a:lnTo>
                  <a:pt x="21600" y="628"/>
                </a:lnTo>
                <a:arcTo wR="628" hR="628" stAng="0" swAng="-5400000"/>
                <a:close/>
              </a:path>
            </a:pathLst>
          </a:cu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8" name="Shape 49"/>
          <p:cNvSpPr/>
          <p:nvPr/>
        </p:nvSpPr>
        <p:spPr>
          <a:xfrm>
            <a:off x="9144000" y="1417680"/>
            <a:ext cx="2514240" cy="593280"/>
          </a:xfrm>
          <a:prstGeom prst="roundRect">
            <a:avLst>
              <a:gd name="adj" fmla="val 12310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9" name="Text 50"/>
          <p:cNvSpPr/>
          <p:nvPr/>
        </p:nvSpPr>
        <p:spPr>
          <a:xfrm>
            <a:off x="9144000" y="1417680"/>
            <a:ext cx="25142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Automation system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Shape 51"/>
          <p:cNvSpPr/>
          <p:nvPr/>
        </p:nvSpPr>
        <p:spPr>
          <a:xfrm>
            <a:off x="9309240" y="2212920"/>
            <a:ext cx="2193480" cy="502920"/>
          </a:xfrm>
          <a:prstGeom prst="roundRect">
            <a:avLst>
              <a:gd name="adj" fmla="val 10907"/>
            </a:avLst>
          </a:prstGeom>
          <a:solidFill>
            <a:srgbClr val="d8f1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1" name="Text 52"/>
          <p:cNvSpPr/>
          <p:nvPr/>
        </p:nvSpPr>
        <p:spPr>
          <a:xfrm>
            <a:off x="9435960" y="2212920"/>
            <a:ext cx="20127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Relational database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Shape 53"/>
          <p:cNvSpPr/>
          <p:nvPr/>
        </p:nvSpPr>
        <p:spPr>
          <a:xfrm>
            <a:off x="9309240" y="2852640"/>
            <a:ext cx="2193480" cy="502920"/>
          </a:xfrm>
          <a:prstGeom prst="roundRect">
            <a:avLst>
              <a:gd name="adj" fmla="val 10907"/>
            </a:avLst>
          </a:prstGeom>
          <a:solidFill>
            <a:srgbClr val="d8f1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3" name="Text 54"/>
          <p:cNvSpPr/>
          <p:nvPr/>
        </p:nvSpPr>
        <p:spPr>
          <a:xfrm>
            <a:off x="9435960" y="2852640"/>
            <a:ext cx="20127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Normalized data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Shape 55"/>
          <p:cNvSpPr/>
          <p:nvPr/>
        </p:nvSpPr>
        <p:spPr>
          <a:xfrm>
            <a:off x="9309240" y="3492360"/>
            <a:ext cx="2193480" cy="502920"/>
          </a:xfrm>
          <a:prstGeom prst="roundRect">
            <a:avLst>
              <a:gd name="adj" fmla="val 10907"/>
            </a:avLst>
          </a:prstGeom>
          <a:solidFill>
            <a:srgbClr val="d8f1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5" name="Text 56"/>
          <p:cNvSpPr/>
          <p:nvPr/>
        </p:nvSpPr>
        <p:spPr>
          <a:xfrm>
            <a:off x="9435960" y="3492360"/>
            <a:ext cx="20127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Automated billing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Shape 57"/>
          <p:cNvSpPr/>
          <p:nvPr/>
        </p:nvSpPr>
        <p:spPr>
          <a:xfrm>
            <a:off x="9309240" y="4133880"/>
            <a:ext cx="2193480" cy="501120"/>
          </a:xfrm>
          <a:prstGeom prst="roundRect">
            <a:avLst>
              <a:gd name="adj" fmla="val 10907"/>
            </a:avLst>
          </a:prstGeom>
          <a:solidFill>
            <a:srgbClr val="d8f1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7" name="Text 58"/>
          <p:cNvSpPr/>
          <p:nvPr/>
        </p:nvSpPr>
        <p:spPr>
          <a:xfrm>
            <a:off x="9435960" y="4133880"/>
            <a:ext cx="20127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Instant search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Shape 59"/>
          <p:cNvSpPr/>
          <p:nvPr/>
        </p:nvSpPr>
        <p:spPr>
          <a:xfrm>
            <a:off x="9309240" y="4773600"/>
            <a:ext cx="2193480" cy="502920"/>
          </a:xfrm>
          <a:prstGeom prst="roundRect">
            <a:avLst>
              <a:gd name="adj" fmla="val 10907"/>
            </a:avLst>
          </a:prstGeom>
          <a:solidFill>
            <a:srgbClr val="d8f1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9" name="Text 60"/>
          <p:cNvSpPr/>
          <p:nvPr/>
        </p:nvSpPr>
        <p:spPr>
          <a:xfrm>
            <a:off x="9435960" y="4773600"/>
            <a:ext cx="201276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Backup &amp; security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Shape 61"/>
          <p:cNvSpPr/>
          <p:nvPr/>
        </p:nvSpPr>
        <p:spPr>
          <a:xfrm>
            <a:off x="8796240" y="3292560"/>
            <a:ext cx="549000" cy="410760"/>
          </a:xfrm>
          <a:prstGeom prst="rightArrow">
            <a:avLst>
              <a:gd name="adj1" fmla="val 50000"/>
              <a:gd name="adj2" fmla="val 50109"/>
            </a:avLst>
          </a:prstGeom>
          <a:solidFill>
            <a:srgbClr val="0b3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51" name="Text 62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Text 63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3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452520" y="5165640"/>
            <a:ext cx="5403240" cy="914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600">
            <a:solidFill>
              <a:srgbClr val="fbe7d6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           </a:t>
            </a:r>
            <a:r>
              <a:rPr b="0" lang="en-IN" sz="12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“</a:t>
            </a:r>
            <a:r>
              <a:rPr b="0" lang="en-IN" sz="12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A patient visits the hospital multiple times, but their previous records are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                  </a:t>
            </a:r>
            <a:r>
              <a:rPr b="0" lang="en-IN" sz="12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stored in different registers. Staff may create another record instead of  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                  </a:t>
            </a:r>
            <a:r>
              <a:rPr b="0" lang="en-IN" sz="1200" strike="noStrike" u="none">
                <a:solidFill>
                  <a:srgbClr val="000000"/>
                </a:solidFill>
                <a:uFillTx/>
                <a:latin typeface="Calibri"/>
                <a:ea typeface="DejaVu Sans"/>
              </a:rPr>
              <a:t>finding the existing one, making medical history difficult to retrieve.”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Shape 26"/>
          <p:cNvSpPr/>
          <p:nvPr/>
        </p:nvSpPr>
        <p:spPr>
          <a:xfrm>
            <a:off x="582480" y="5349960"/>
            <a:ext cx="384120" cy="383760"/>
          </a:xfrm>
          <a:prstGeom prst="ellipse">
            <a:avLst/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e07a2f"/>
                </a:solidFill>
                <a:uFillTx/>
                <a:latin typeface="Abadi ExtraLight"/>
                <a:ea typeface="Calibri"/>
              </a:rPr>
              <a:t>!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Box 72"/>
          <p:cNvSpPr/>
          <p:nvPr/>
        </p:nvSpPr>
        <p:spPr>
          <a:xfrm>
            <a:off x="447840" y="1380960"/>
            <a:ext cx="56066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REAL-WORLD PROBLEMS IN THE EXISTING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SYSTEM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6" name="object 3" descr=""/>
          <p:cNvPicPr/>
          <p:nvPr/>
        </p:nvPicPr>
        <p:blipFill>
          <a:blip r:embed="rId1"/>
          <a:stretch/>
        </p:blipFill>
        <p:spPr>
          <a:xfrm>
            <a:off x="9783720" y="238320"/>
            <a:ext cx="213012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57200" y="32868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Objectives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8778960" y="38412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trike="noStrike" u="none">
                <a:solidFill>
                  <a:srgbClr val="dcebf7"/>
                </a:solidFill>
                <a:uFillTx/>
                <a:latin typeface="Calibri"/>
                <a:ea typeface="Calibri"/>
              </a:rPr>
              <a:t>03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4997520" y="2697120"/>
            <a:ext cx="2193480" cy="2195280"/>
          </a:xfrm>
          <a:prstGeom prst="ellipse">
            <a:avLst/>
          </a:prstGeom>
          <a:solidFill>
            <a:srgbClr val="0b3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4869000" y="2570040"/>
            <a:ext cx="2450520" cy="2449440"/>
          </a:xfrm>
          <a:prstGeom prst="ellipse">
            <a:avLst/>
          </a:prstGeom>
          <a:noFill/>
          <a:ln w="25560">
            <a:solidFill>
              <a:srgbClr val="12a594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4997520" y="2697120"/>
            <a:ext cx="2193480" cy="21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PROJECT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OBJECTIVES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4929120" y="1325520"/>
            <a:ext cx="233028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4929120" y="1325520"/>
            <a:ext cx="90360" cy="658440"/>
          </a:xfrm>
          <a:custGeom>
            <a:avLst/>
            <a:gdLst>
              <a:gd name="textAreaLeft" fmla="*/ 7920 w 90360"/>
              <a:gd name="textAreaRight" fmla="*/ 82800 w 9036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6323">
                <a:moveTo>
                  <a:pt x="6480" y="0"/>
                </a:moveTo>
                <a:arcTo wR="6480" hR="6480" stAng="16200000" swAng="-5400000"/>
                <a:lnTo>
                  <a:pt x="0" y="149843"/>
                </a:lnTo>
                <a:arcTo wR="6480" hR="6480" stAng="10800000" swAng="-5400000"/>
                <a:lnTo>
                  <a:pt x="15120" y="156323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5111640" y="1380960"/>
            <a:ext cx="410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01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5549760" y="1344600"/>
            <a:ext cx="158256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Automate hospital operations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Shape 12"/>
          <p:cNvSpPr/>
          <p:nvPr/>
        </p:nvSpPr>
        <p:spPr>
          <a:xfrm>
            <a:off x="8026560" y="1784520"/>
            <a:ext cx="233136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8026560" y="1784520"/>
            <a:ext cx="90000" cy="658440"/>
          </a:xfrm>
          <a:custGeom>
            <a:avLst/>
            <a:gdLst>
              <a:gd name="textAreaLeft" fmla="*/ 7920 w 90000"/>
              <a:gd name="textAreaRight" fmla="*/ 82440 w 9000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6943">
                <a:moveTo>
                  <a:pt x="6480" y="0"/>
                </a:moveTo>
                <a:arcTo wR="6480" hR="6480" stAng="16200000" swAng="-5400000"/>
                <a:lnTo>
                  <a:pt x="0" y="150463"/>
                </a:lnTo>
                <a:arcTo wR="6480" hR="6480" stAng="10800000" swAng="-5400000"/>
                <a:lnTo>
                  <a:pt x="15120" y="156943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8209080" y="1839960"/>
            <a:ext cx="410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02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8648640" y="1803240"/>
            <a:ext cx="15807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Maintain centralized database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Shape 16"/>
          <p:cNvSpPr/>
          <p:nvPr/>
        </p:nvSpPr>
        <p:spPr>
          <a:xfrm>
            <a:off x="9537840" y="3084480"/>
            <a:ext cx="232992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73" name="Shape 17"/>
          <p:cNvSpPr/>
          <p:nvPr/>
        </p:nvSpPr>
        <p:spPr>
          <a:xfrm>
            <a:off x="9537840" y="3084480"/>
            <a:ext cx="90000" cy="658440"/>
          </a:xfrm>
          <a:custGeom>
            <a:avLst/>
            <a:gdLst>
              <a:gd name="textAreaLeft" fmla="*/ 7920 w 90000"/>
              <a:gd name="textAreaRight" fmla="*/ 82440 w 9000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6943">
                <a:moveTo>
                  <a:pt x="6480" y="0"/>
                </a:moveTo>
                <a:arcTo wR="6480" hR="6480" stAng="16200000" swAng="-5400000"/>
                <a:lnTo>
                  <a:pt x="0" y="150463"/>
                </a:lnTo>
                <a:arcTo wR="6480" hR="6480" stAng="10800000" swAng="-5400000"/>
                <a:lnTo>
                  <a:pt x="15120" y="156943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9720360" y="3139920"/>
            <a:ext cx="410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03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10158480" y="3103560"/>
            <a:ext cx="158220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Improve patient care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Shape 20"/>
          <p:cNvSpPr/>
          <p:nvPr/>
        </p:nvSpPr>
        <p:spPr>
          <a:xfrm>
            <a:off x="9101160" y="4562640"/>
            <a:ext cx="233172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77" name="Shape 21"/>
          <p:cNvSpPr/>
          <p:nvPr/>
        </p:nvSpPr>
        <p:spPr>
          <a:xfrm>
            <a:off x="9101160" y="4562640"/>
            <a:ext cx="91800" cy="658440"/>
          </a:xfrm>
          <a:custGeom>
            <a:avLst/>
            <a:gdLst>
              <a:gd name="textAreaLeft" fmla="*/ 7920 w 91800"/>
              <a:gd name="textAreaRight" fmla="*/ 84240 w 9180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3889">
                <a:moveTo>
                  <a:pt x="6480" y="0"/>
                </a:moveTo>
                <a:arcTo wR="6480" hR="6480" stAng="16200000" swAng="-5400000"/>
                <a:lnTo>
                  <a:pt x="0" y="147409"/>
                </a:lnTo>
                <a:arcTo wR="6480" hR="6480" stAng="10800000" swAng="-5400000"/>
                <a:lnTo>
                  <a:pt x="15120" y="153889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78" name="Text 22"/>
          <p:cNvSpPr/>
          <p:nvPr/>
        </p:nvSpPr>
        <p:spPr>
          <a:xfrm>
            <a:off x="9285120" y="4618080"/>
            <a:ext cx="4111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04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 23"/>
          <p:cNvSpPr/>
          <p:nvPr/>
        </p:nvSpPr>
        <p:spPr>
          <a:xfrm>
            <a:off x="9723600" y="4581360"/>
            <a:ext cx="15822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Efficient appointment scheduling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Shape 24"/>
          <p:cNvSpPr/>
          <p:nvPr/>
        </p:nvSpPr>
        <p:spPr>
          <a:xfrm>
            <a:off x="6576840" y="5513400"/>
            <a:ext cx="233172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81" name="Shape 25"/>
          <p:cNvSpPr/>
          <p:nvPr/>
        </p:nvSpPr>
        <p:spPr>
          <a:xfrm>
            <a:off x="6576840" y="5513400"/>
            <a:ext cx="90360" cy="658440"/>
          </a:xfrm>
          <a:custGeom>
            <a:avLst/>
            <a:gdLst>
              <a:gd name="textAreaLeft" fmla="*/ 7920 w 90360"/>
              <a:gd name="textAreaRight" fmla="*/ 82800 w 9036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6323">
                <a:moveTo>
                  <a:pt x="6480" y="0"/>
                </a:moveTo>
                <a:arcTo wR="6480" hR="6480" stAng="16200000" swAng="-5400000"/>
                <a:lnTo>
                  <a:pt x="0" y="149843"/>
                </a:lnTo>
                <a:arcTo wR="6480" hR="6480" stAng="10800000" swAng="-5400000"/>
                <a:lnTo>
                  <a:pt x="15120" y="156323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6759720" y="5568840"/>
            <a:ext cx="410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05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Text 27"/>
          <p:cNvSpPr/>
          <p:nvPr/>
        </p:nvSpPr>
        <p:spPr>
          <a:xfrm>
            <a:off x="7199280" y="5532480"/>
            <a:ext cx="158076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Digital billing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Shape 28"/>
          <p:cNvSpPr/>
          <p:nvPr/>
        </p:nvSpPr>
        <p:spPr>
          <a:xfrm>
            <a:off x="3279600" y="5513400"/>
            <a:ext cx="233172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85" name="Shape 29"/>
          <p:cNvSpPr/>
          <p:nvPr/>
        </p:nvSpPr>
        <p:spPr>
          <a:xfrm>
            <a:off x="3279600" y="5513400"/>
            <a:ext cx="91800" cy="658440"/>
          </a:xfrm>
          <a:custGeom>
            <a:avLst/>
            <a:gdLst>
              <a:gd name="textAreaLeft" fmla="*/ 7920 w 91800"/>
              <a:gd name="textAreaRight" fmla="*/ 84240 w 9180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3889">
                <a:moveTo>
                  <a:pt x="6480" y="0"/>
                </a:moveTo>
                <a:arcTo wR="6480" hR="6480" stAng="16200000" swAng="-5400000"/>
                <a:lnTo>
                  <a:pt x="0" y="147409"/>
                </a:lnTo>
                <a:arcTo wR="6480" hR="6480" stAng="10800000" swAng="-5400000"/>
                <a:lnTo>
                  <a:pt x="15120" y="153889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86" name="Text 30"/>
          <p:cNvSpPr/>
          <p:nvPr/>
        </p:nvSpPr>
        <p:spPr>
          <a:xfrm>
            <a:off x="3463920" y="5568840"/>
            <a:ext cx="410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06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Text 31"/>
          <p:cNvSpPr/>
          <p:nvPr/>
        </p:nvSpPr>
        <p:spPr>
          <a:xfrm>
            <a:off x="3902040" y="5532480"/>
            <a:ext cx="158256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Secure medical records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Shape 32"/>
          <p:cNvSpPr/>
          <p:nvPr/>
        </p:nvSpPr>
        <p:spPr>
          <a:xfrm>
            <a:off x="755640" y="4562640"/>
            <a:ext cx="233172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89" name="Shape 33"/>
          <p:cNvSpPr/>
          <p:nvPr/>
        </p:nvSpPr>
        <p:spPr>
          <a:xfrm>
            <a:off x="755640" y="4562640"/>
            <a:ext cx="90000" cy="658440"/>
          </a:xfrm>
          <a:custGeom>
            <a:avLst/>
            <a:gdLst>
              <a:gd name="textAreaLeft" fmla="*/ 7920 w 90000"/>
              <a:gd name="textAreaRight" fmla="*/ 82440 w 9000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6943">
                <a:moveTo>
                  <a:pt x="6480" y="0"/>
                </a:moveTo>
                <a:arcTo wR="6480" hR="6480" stAng="16200000" swAng="-5400000"/>
                <a:lnTo>
                  <a:pt x="0" y="150463"/>
                </a:lnTo>
                <a:arcTo wR="6480" hR="6480" stAng="10800000" swAng="-5400000"/>
                <a:lnTo>
                  <a:pt x="15120" y="156943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90" name="Text 34"/>
          <p:cNvSpPr/>
          <p:nvPr/>
        </p:nvSpPr>
        <p:spPr>
          <a:xfrm>
            <a:off x="938160" y="4618080"/>
            <a:ext cx="410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07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Text 35"/>
          <p:cNvSpPr/>
          <p:nvPr/>
        </p:nvSpPr>
        <p:spPr>
          <a:xfrm>
            <a:off x="1376280" y="4581360"/>
            <a:ext cx="15825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Reduce paperwork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Shape 36"/>
          <p:cNvSpPr/>
          <p:nvPr/>
        </p:nvSpPr>
        <p:spPr>
          <a:xfrm>
            <a:off x="320760" y="3084480"/>
            <a:ext cx="232992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93" name="Shape 37"/>
          <p:cNvSpPr/>
          <p:nvPr/>
        </p:nvSpPr>
        <p:spPr>
          <a:xfrm>
            <a:off x="320760" y="3084480"/>
            <a:ext cx="90000" cy="658440"/>
          </a:xfrm>
          <a:custGeom>
            <a:avLst/>
            <a:gdLst>
              <a:gd name="textAreaLeft" fmla="*/ 7920 w 90000"/>
              <a:gd name="textAreaRight" fmla="*/ 82440 w 9000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6943">
                <a:moveTo>
                  <a:pt x="6480" y="0"/>
                </a:moveTo>
                <a:arcTo wR="6480" hR="6480" stAng="16200000" swAng="-5400000"/>
                <a:lnTo>
                  <a:pt x="0" y="150463"/>
                </a:lnTo>
                <a:arcTo wR="6480" hR="6480" stAng="10800000" swAng="-5400000"/>
                <a:lnTo>
                  <a:pt x="15120" y="156943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94" name="Text 38"/>
          <p:cNvSpPr/>
          <p:nvPr/>
        </p:nvSpPr>
        <p:spPr>
          <a:xfrm>
            <a:off x="503280" y="3139920"/>
            <a:ext cx="410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08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Text 39"/>
          <p:cNvSpPr/>
          <p:nvPr/>
        </p:nvSpPr>
        <p:spPr>
          <a:xfrm>
            <a:off x="941400" y="3103560"/>
            <a:ext cx="158220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Generate reports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Shape 40"/>
          <p:cNvSpPr/>
          <p:nvPr/>
        </p:nvSpPr>
        <p:spPr>
          <a:xfrm>
            <a:off x="1830240" y="1784520"/>
            <a:ext cx="2331720" cy="658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97" name="Shape 41"/>
          <p:cNvSpPr/>
          <p:nvPr/>
        </p:nvSpPr>
        <p:spPr>
          <a:xfrm>
            <a:off x="1830240" y="1784520"/>
            <a:ext cx="91800" cy="658440"/>
          </a:xfrm>
          <a:custGeom>
            <a:avLst/>
            <a:gdLst>
              <a:gd name="textAreaLeft" fmla="*/ 7920 w 91800"/>
              <a:gd name="textAreaRight" fmla="*/ 84240 w 91800"/>
              <a:gd name="textAreaTop" fmla="*/ 7920 h 658440"/>
              <a:gd name="textAreaBottom" fmla="*/ 650880 h 658440"/>
            </a:gdLst>
            <a:ahLst/>
            <a:rect l="textAreaLeft" t="textAreaTop" r="textAreaRight" b="textAreaBottom"/>
            <a:pathLst>
              <a:path w="21600" h="153889">
                <a:moveTo>
                  <a:pt x="6480" y="0"/>
                </a:moveTo>
                <a:arcTo wR="6480" hR="6480" stAng="16200000" swAng="-5400000"/>
                <a:lnTo>
                  <a:pt x="0" y="147409"/>
                </a:lnTo>
                <a:arcTo wR="6480" hR="6480" stAng="10800000" swAng="-5400000"/>
                <a:lnTo>
                  <a:pt x="15120" y="153889"/>
                </a:lnTo>
                <a:arcTo wR="6480" hR="6480" stAng="5400000" swAng="-5400000"/>
                <a:lnTo>
                  <a:pt x="21600" y="6480"/>
                </a:lnTo>
                <a:arcTo wR="6480" hR="6480" stAng="0" swAng="-5400000"/>
                <a:close/>
              </a:path>
            </a:pathLst>
          </a:cu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98" name="Text 42"/>
          <p:cNvSpPr/>
          <p:nvPr/>
        </p:nvSpPr>
        <p:spPr>
          <a:xfrm>
            <a:off x="2014560" y="1839960"/>
            <a:ext cx="410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09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Text 43"/>
          <p:cNvSpPr/>
          <p:nvPr/>
        </p:nvSpPr>
        <p:spPr>
          <a:xfrm>
            <a:off x="2452680" y="1803240"/>
            <a:ext cx="15825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Improve inter-department communication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Text 44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Text 45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4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2" name="object 3" descr=""/>
          <p:cNvPicPr/>
          <p:nvPr/>
        </p:nvPicPr>
        <p:blipFill>
          <a:blip r:embed="rId1"/>
          <a:stretch/>
        </p:blipFill>
        <p:spPr>
          <a:xfrm>
            <a:off x="9783720" y="238320"/>
            <a:ext cx="213012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457200" y="32868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Number of Entities  —  08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8778960" y="38412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trike="noStrike" u="none">
                <a:solidFill>
                  <a:srgbClr val="dcebf7"/>
                </a:solidFill>
                <a:uFillTx/>
                <a:latin typeface="Calibri"/>
                <a:ea typeface="Calibri"/>
              </a:rPr>
              <a:t>04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4859280" y="2835360"/>
            <a:ext cx="2469960" cy="1918800"/>
          </a:xfrm>
          <a:prstGeom prst="ellipse">
            <a:avLst/>
          </a:prstGeom>
          <a:solidFill>
            <a:srgbClr val="0b3c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4859280" y="2835360"/>
            <a:ext cx="2469960" cy="19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HOSPITAL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MANAGEMENT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SYSTEM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2071800" y="1920960"/>
            <a:ext cx="4022640" cy="1873080"/>
          </a:xfrm>
          <a:prstGeom prst="line">
            <a:avLst/>
          </a:prstGeom>
          <a:ln w="15840">
            <a:solidFill>
              <a:srgbClr val="a9c3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1065240" y="1536840"/>
            <a:ext cx="2010960" cy="76788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11" name="Shape 9"/>
          <p:cNvSpPr/>
          <p:nvPr/>
        </p:nvSpPr>
        <p:spPr>
          <a:xfrm>
            <a:off x="1174680" y="1663560"/>
            <a:ext cx="512640" cy="51264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1174680" y="1663560"/>
            <a:ext cx="512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⚕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1778040" y="1536840"/>
            <a:ext cx="12808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Patient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4676760" y="1554120"/>
            <a:ext cx="1417680" cy="2239920"/>
          </a:xfrm>
          <a:prstGeom prst="line">
            <a:avLst/>
          </a:prstGeom>
          <a:ln w="15840">
            <a:solidFill>
              <a:srgbClr val="a9c3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3672000" y="1170000"/>
            <a:ext cx="2010960" cy="76788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16" name="Shape 14"/>
          <p:cNvSpPr/>
          <p:nvPr/>
        </p:nvSpPr>
        <p:spPr>
          <a:xfrm>
            <a:off x="3781440" y="1298520"/>
            <a:ext cx="510840" cy="51084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3781440" y="1298520"/>
            <a:ext cx="5108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✚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4384800" y="1170000"/>
            <a:ext cx="12790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Doctor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Shape 17"/>
          <p:cNvSpPr/>
          <p:nvPr/>
        </p:nvSpPr>
        <p:spPr>
          <a:xfrm flipH="1">
            <a:off x="6094440" y="1554120"/>
            <a:ext cx="1417680" cy="2239920"/>
          </a:xfrm>
          <a:prstGeom prst="line">
            <a:avLst/>
          </a:prstGeom>
          <a:ln w="15840">
            <a:solidFill>
              <a:srgbClr val="a9c3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20" name="Shape 18"/>
          <p:cNvSpPr/>
          <p:nvPr/>
        </p:nvSpPr>
        <p:spPr>
          <a:xfrm>
            <a:off x="6505560" y="1170000"/>
            <a:ext cx="2010960" cy="76788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21" name="Shape 19"/>
          <p:cNvSpPr/>
          <p:nvPr/>
        </p:nvSpPr>
        <p:spPr>
          <a:xfrm>
            <a:off x="6615000" y="1298520"/>
            <a:ext cx="512640" cy="51084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6615000" y="1298520"/>
            <a:ext cx="5126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▦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7219800" y="1170000"/>
            <a:ext cx="127944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Department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Shape 22"/>
          <p:cNvSpPr/>
          <p:nvPr/>
        </p:nvSpPr>
        <p:spPr>
          <a:xfrm flipH="1">
            <a:off x="6094440" y="1920960"/>
            <a:ext cx="4022640" cy="1873080"/>
          </a:xfrm>
          <a:prstGeom prst="line">
            <a:avLst/>
          </a:prstGeom>
          <a:ln w="15840">
            <a:solidFill>
              <a:srgbClr val="a9c3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25" name="Shape 23"/>
          <p:cNvSpPr/>
          <p:nvPr/>
        </p:nvSpPr>
        <p:spPr>
          <a:xfrm>
            <a:off x="9112320" y="1536840"/>
            <a:ext cx="2010960" cy="76788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9221760" y="1663560"/>
            <a:ext cx="512280" cy="51264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27" name="Text 25"/>
          <p:cNvSpPr/>
          <p:nvPr/>
        </p:nvSpPr>
        <p:spPr>
          <a:xfrm>
            <a:off x="9221760" y="1663560"/>
            <a:ext cx="51228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◷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9825120" y="1536840"/>
            <a:ext cx="12805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Appointment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Shape 27"/>
          <p:cNvSpPr/>
          <p:nvPr/>
        </p:nvSpPr>
        <p:spPr>
          <a:xfrm flipH="1">
            <a:off x="2071800" y="3794040"/>
            <a:ext cx="4022640" cy="1874880"/>
          </a:xfrm>
          <a:prstGeom prst="line">
            <a:avLst/>
          </a:prstGeom>
          <a:ln w="15840">
            <a:solidFill>
              <a:srgbClr val="a9c3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30" name="Shape 28"/>
          <p:cNvSpPr/>
          <p:nvPr/>
        </p:nvSpPr>
        <p:spPr>
          <a:xfrm>
            <a:off x="1065240" y="5284800"/>
            <a:ext cx="2010960" cy="76788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31" name="Shape 29"/>
          <p:cNvSpPr/>
          <p:nvPr/>
        </p:nvSpPr>
        <p:spPr>
          <a:xfrm>
            <a:off x="1174680" y="5413320"/>
            <a:ext cx="512640" cy="51084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32" name="Text 30"/>
          <p:cNvSpPr/>
          <p:nvPr/>
        </p:nvSpPr>
        <p:spPr>
          <a:xfrm>
            <a:off x="1174680" y="5413320"/>
            <a:ext cx="5126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₹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Text 31"/>
          <p:cNvSpPr/>
          <p:nvPr/>
        </p:nvSpPr>
        <p:spPr>
          <a:xfrm>
            <a:off x="1778040" y="5284800"/>
            <a:ext cx="12808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Billing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Shape 32"/>
          <p:cNvSpPr/>
          <p:nvPr/>
        </p:nvSpPr>
        <p:spPr>
          <a:xfrm flipH="1">
            <a:off x="4676760" y="3794040"/>
            <a:ext cx="1417680" cy="2241720"/>
          </a:xfrm>
          <a:prstGeom prst="line">
            <a:avLst/>
          </a:prstGeom>
          <a:ln w="15840">
            <a:solidFill>
              <a:srgbClr val="a9c3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35" name="Shape 33"/>
          <p:cNvSpPr/>
          <p:nvPr/>
        </p:nvSpPr>
        <p:spPr>
          <a:xfrm>
            <a:off x="3672000" y="5651640"/>
            <a:ext cx="2010960" cy="76788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36" name="Shape 34"/>
          <p:cNvSpPr/>
          <p:nvPr/>
        </p:nvSpPr>
        <p:spPr>
          <a:xfrm>
            <a:off x="3781440" y="5778360"/>
            <a:ext cx="510840" cy="51264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37" name="Text 35"/>
          <p:cNvSpPr/>
          <p:nvPr/>
        </p:nvSpPr>
        <p:spPr>
          <a:xfrm>
            <a:off x="3781440" y="5778360"/>
            <a:ext cx="5108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☻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Text 36"/>
          <p:cNvSpPr/>
          <p:nvPr/>
        </p:nvSpPr>
        <p:spPr>
          <a:xfrm>
            <a:off x="4384800" y="5651640"/>
            <a:ext cx="12790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Staff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Shape 37"/>
          <p:cNvSpPr/>
          <p:nvPr/>
        </p:nvSpPr>
        <p:spPr>
          <a:xfrm>
            <a:off x="6094440" y="3794040"/>
            <a:ext cx="1417680" cy="2241720"/>
          </a:xfrm>
          <a:prstGeom prst="line">
            <a:avLst/>
          </a:prstGeom>
          <a:ln w="15840">
            <a:solidFill>
              <a:srgbClr val="a9c3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0" name="Shape 38"/>
          <p:cNvSpPr/>
          <p:nvPr/>
        </p:nvSpPr>
        <p:spPr>
          <a:xfrm>
            <a:off x="6505560" y="5651640"/>
            <a:ext cx="2010960" cy="76788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600">
            <a:solidFill>
              <a:srgbClr val="1668a8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1" name="Shape 39"/>
          <p:cNvSpPr/>
          <p:nvPr/>
        </p:nvSpPr>
        <p:spPr>
          <a:xfrm>
            <a:off x="6615000" y="5778360"/>
            <a:ext cx="512640" cy="51264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2" name="Text 40"/>
          <p:cNvSpPr/>
          <p:nvPr/>
        </p:nvSpPr>
        <p:spPr>
          <a:xfrm>
            <a:off x="6615000" y="5778360"/>
            <a:ext cx="51264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✎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Text 41"/>
          <p:cNvSpPr/>
          <p:nvPr/>
        </p:nvSpPr>
        <p:spPr>
          <a:xfrm>
            <a:off x="7219800" y="5651640"/>
            <a:ext cx="127944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Prescription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Shape 42"/>
          <p:cNvSpPr/>
          <p:nvPr/>
        </p:nvSpPr>
        <p:spPr>
          <a:xfrm>
            <a:off x="6094440" y="3794040"/>
            <a:ext cx="4022640" cy="1874880"/>
          </a:xfrm>
          <a:prstGeom prst="line">
            <a:avLst/>
          </a:prstGeom>
          <a:ln w="15840">
            <a:solidFill>
              <a:srgbClr val="a9c3d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5" name="Shape 43"/>
          <p:cNvSpPr/>
          <p:nvPr/>
        </p:nvSpPr>
        <p:spPr>
          <a:xfrm>
            <a:off x="9112320" y="5284800"/>
            <a:ext cx="2010960" cy="76788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600">
            <a:solidFill>
              <a:srgbClr val="12a594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6" name="Shape 44"/>
          <p:cNvSpPr/>
          <p:nvPr/>
        </p:nvSpPr>
        <p:spPr>
          <a:xfrm>
            <a:off x="9221760" y="5413320"/>
            <a:ext cx="512280" cy="51084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7" name="Text 45"/>
          <p:cNvSpPr/>
          <p:nvPr/>
        </p:nvSpPr>
        <p:spPr>
          <a:xfrm>
            <a:off x="9221760" y="5413320"/>
            <a:ext cx="5122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⚘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Text 46"/>
          <p:cNvSpPr/>
          <p:nvPr/>
        </p:nvSpPr>
        <p:spPr>
          <a:xfrm>
            <a:off x="9825120" y="5284800"/>
            <a:ext cx="12805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Medicine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Text 47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Text 48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5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1" name="object 3" descr=""/>
          <p:cNvPicPr/>
          <p:nvPr/>
        </p:nvPicPr>
        <p:blipFill>
          <a:blip r:embed="rId1"/>
          <a:stretch/>
        </p:blipFill>
        <p:spPr>
          <a:xfrm>
            <a:off x="9783720" y="238320"/>
            <a:ext cx="213012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457200" y="32868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Attributes of Each Entity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8778960" y="38412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trike="noStrike" u="none">
                <a:solidFill>
                  <a:srgbClr val="dcebf7"/>
                </a:solidFill>
                <a:uFillTx/>
                <a:latin typeface="Calibri"/>
                <a:ea typeface="Calibri"/>
              </a:rPr>
              <a:t>05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457200" y="1325520"/>
            <a:ext cx="2761920" cy="22125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57" name="Shape 6"/>
          <p:cNvSpPr/>
          <p:nvPr/>
        </p:nvSpPr>
        <p:spPr>
          <a:xfrm>
            <a:off x="457200" y="1325520"/>
            <a:ext cx="2761920" cy="475920"/>
          </a:xfrm>
          <a:prstGeom prst="roundRect">
            <a:avLst>
              <a:gd name="adj" fmla="val 15384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622440" y="1325520"/>
            <a:ext cx="24854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PATIENT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658800" y="1892160"/>
            <a:ext cx="2395080" cy="15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◆  </a:t>
            </a: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Patient_ID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Name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Age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Gender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Phone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Address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Blood Group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3328920" y="1325520"/>
            <a:ext cx="2760480" cy="22125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61" name="Shape 10"/>
          <p:cNvSpPr/>
          <p:nvPr/>
        </p:nvSpPr>
        <p:spPr>
          <a:xfrm>
            <a:off x="3328920" y="1325520"/>
            <a:ext cx="2760480" cy="475920"/>
          </a:xfrm>
          <a:prstGeom prst="roundRect">
            <a:avLst>
              <a:gd name="adj" fmla="val 15384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62" name="Text 11"/>
          <p:cNvSpPr/>
          <p:nvPr/>
        </p:nvSpPr>
        <p:spPr>
          <a:xfrm>
            <a:off x="3492360" y="1325520"/>
            <a:ext cx="2487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DOCTOR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3529080" y="1892160"/>
            <a:ext cx="2395080" cy="15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◆  </a:t>
            </a:r>
            <a:r>
              <a:rPr b="1" lang="en-US" sz="11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Doctor_ID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Name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Specialization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Experience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Phone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Department_ID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Shape 13"/>
          <p:cNvSpPr/>
          <p:nvPr/>
        </p:nvSpPr>
        <p:spPr>
          <a:xfrm>
            <a:off x="6199200" y="1325520"/>
            <a:ext cx="2761920" cy="22125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65" name="Shape 14"/>
          <p:cNvSpPr/>
          <p:nvPr/>
        </p:nvSpPr>
        <p:spPr>
          <a:xfrm>
            <a:off x="6199200" y="1325520"/>
            <a:ext cx="2761920" cy="475920"/>
          </a:xfrm>
          <a:prstGeom prst="roundRect">
            <a:avLst>
              <a:gd name="adj" fmla="val 15384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6364440" y="1325520"/>
            <a:ext cx="2487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DEPARTMENT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Text 16"/>
          <p:cNvSpPr/>
          <p:nvPr/>
        </p:nvSpPr>
        <p:spPr>
          <a:xfrm>
            <a:off x="6400800" y="1892160"/>
            <a:ext cx="2395080" cy="15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◆  </a:t>
            </a: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Department_ID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Department_Name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Floor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Shape 17"/>
          <p:cNvSpPr/>
          <p:nvPr/>
        </p:nvSpPr>
        <p:spPr>
          <a:xfrm>
            <a:off x="9070920" y="1325520"/>
            <a:ext cx="2760480" cy="22125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69" name="Shape 18"/>
          <p:cNvSpPr/>
          <p:nvPr/>
        </p:nvSpPr>
        <p:spPr>
          <a:xfrm>
            <a:off x="9070920" y="1325520"/>
            <a:ext cx="2760480" cy="475920"/>
          </a:xfrm>
          <a:prstGeom prst="roundRect">
            <a:avLst>
              <a:gd name="adj" fmla="val 15384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9236160" y="1325520"/>
            <a:ext cx="24854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APPOINTMENT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9272520" y="1892160"/>
            <a:ext cx="2395080" cy="15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◆  </a:t>
            </a:r>
            <a:r>
              <a:rPr b="1" lang="en-US" sz="11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Appointment_ID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Patient_ID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Doctor_ID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Date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Time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Status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Shape 21"/>
          <p:cNvSpPr/>
          <p:nvPr/>
        </p:nvSpPr>
        <p:spPr>
          <a:xfrm>
            <a:off x="457200" y="3703680"/>
            <a:ext cx="2761920" cy="22125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73" name="Shape 22"/>
          <p:cNvSpPr/>
          <p:nvPr/>
        </p:nvSpPr>
        <p:spPr>
          <a:xfrm>
            <a:off x="457200" y="3703680"/>
            <a:ext cx="2761920" cy="474120"/>
          </a:xfrm>
          <a:prstGeom prst="roundRect">
            <a:avLst>
              <a:gd name="adj" fmla="val 15384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74" name="Text 23"/>
          <p:cNvSpPr/>
          <p:nvPr/>
        </p:nvSpPr>
        <p:spPr>
          <a:xfrm>
            <a:off x="622440" y="3703680"/>
            <a:ext cx="24854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BILLING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Text 24"/>
          <p:cNvSpPr/>
          <p:nvPr/>
        </p:nvSpPr>
        <p:spPr>
          <a:xfrm>
            <a:off x="658800" y="4270320"/>
            <a:ext cx="239508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◆  </a:t>
            </a: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Bill_ID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Patient_ID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Amount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Payment_Mode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Date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Shape 25"/>
          <p:cNvSpPr/>
          <p:nvPr/>
        </p:nvSpPr>
        <p:spPr>
          <a:xfrm>
            <a:off x="3328920" y="3703680"/>
            <a:ext cx="2760480" cy="22125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77" name="Shape 26"/>
          <p:cNvSpPr/>
          <p:nvPr/>
        </p:nvSpPr>
        <p:spPr>
          <a:xfrm>
            <a:off x="3328920" y="3703680"/>
            <a:ext cx="2760480" cy="474120"/>
          </a:xfrm>
          <a:prstGeom prst="roundRect">
            <a:avLst>
              <a:gd name="adj" fmla="val 15384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78" name="Text 27"/>
          <p:cNvSpPr/>
          <p:nvPr/>
        </p:nvSpPr>
        <p:spPr>
          <a:xfrm>
            <a:off x="3492360" y="3703680"/>
            <a:ext cx="24872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STAFF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Text 28"/>
          <p:cNvSpPr/>
          <p:nvPr/>
        </p:nvSpPr>
        <p:spPr>
          <a:xfrm>
            <a:off x="3529080" y="4270320"/>
            <a:ext cx="239508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◆  </a:t>
            </a:r>
            <a:r>
              <a:rPr b="1" lang="en-US" sz="11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Staff_ID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Name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Position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Salary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Shape 29"/>
          <p:cNvSpPr/>
          <p:nvPr/>
        </p:nvSpPr>
        <p:spPr>
          <a:xfrm>
            <a:off x="6199200" y="3703680"/>
            <a:ext cx="2761920" cy="22125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81" name="Shape 30"/>
          <p:cNvSpPr/>
          <p:nvPr/>
        </p:nvSpPr>
        <p:spPr>
          <a:xfrm>
            <a:off x="6199200" y="3703680"/>
            <a:ext cx="2761920" cy="474120"/>
          </a:xfrm>
          <a:prstGeom prst="roundRect">
            <a:avLst>
              <a:gd name="adj" fmla="val 15384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82" name="Text 31"/>
          <p:cNvSpPr/>
          <p:nvPr/>
        </p:nvSpPr>
        <p:spPr>
          <a:xfrm>
            <a:off x="6364440" y="3703680"/>
            <a:ext cx="24872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PRESCRIPTION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Text 32"/>
          <p:cNvSpPr/>
          <p:nvPr/>
        </p:nvSpPr>
        <p:spPr>
          <a:xfrm>
            <a:off x="6400800" y="4270320"/>
            <a:ext cx="239508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◆  </a:t>
            </a: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Prescription_ID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Appointment_ID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Medicine_ID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Dosage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Shape 33"/>
          <p:cNvSpPr/>
          <p:nvPr/>
        </p:nvSpPr>
        <p:spPr>
          <a:xfrm>
            <a:off x="9070920" y="3703680"/>
            <a:ext cx="2760480" cy="221256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85" name="Shape 34"/>
          <p:cNvSpPr/>
          <p:nvPr/>
        </p:nvSpPr>
        <p:spPr>
          <a:xfrm>
            <a:off x="9070920" y="3703680"/>
            <a:ext cx="2760480" cy="474120"/>
          </a:xfrm>
          <a:prstGeom prst="roundRect">
            <a:avLst>
              <a:gd name="adj" fmla="val 15384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86" name="Text 35"/>
          <p:cNvSpPr/>
          <p:nvPr/>
        </p:nvSpPr>
        <p:spPr>
          <a:xfrm>
            <a:off x="9236160" y="3703680"/>
            <a:ext cx="248544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MEDICINE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Text 36"/>
          <p:cNvSpPr/>
          <p:nvPr/>
        </p:nvSpPr>
        <p:spPr>
          <a:xfrm>
            <a:off x="9272520" y="4270320"/>
            <a:ext cx="239508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◆  </a:t>
            </a:r>
            <a:r>
              <a:rPr b="1" lang="en-US" sz="1100" strike="noStrike" u="none">
                <a:solidFill>
                  <a:srgbClr val="12a594"/>
                </a:solidFill>
                <a:uFillTx/>
                <a:latin typeface="Calibri"/>
                <a:ea typeface="Calibri"/>
              </a:rPr>
              <a:t>Medicine_ID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Medicine_Name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Price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•  </a:t>
            </a:r>
            <a:r>
              <a:rPr b="0" lang="en-US" sz="11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Stock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Text 37"/>
          <p:cNvSpPr/>
          <p:nvPr/>
        </p:nvSpPr>
        <p:spPr>
          <a:xfrm>
            <a:off x="8229600" y="5989680"/>
            <a:ext cx="2742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◆  </a:t>
            </a:r>
            <a:r>
              <a:rPr b="0" lang="en-US" sz="10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Primary key attribute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Text 38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Text 39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6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457200" y="32868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Primary Keys &amp; Foreign Keys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Text 4"/>
          <p:cNvSpPr/>
          <p:nvPr/>
        </p:nvSpPr>
        <p:spPr>
          <a:xfrm>
            <a:off x="8778960" y="38412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trike="noStrike" u="none">
                <a:solidFill>
                  <a:srgbClr val="dcebf7"/>
                </a:solidFill>
                <a:uFillTx/>
                <a:latin typeface="Calibri"/>
                <a:ea typeface="Calibri"/>
              </a:rPr>
              <a:t>06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95" name="Table 290"/>
          <p:cNvGraphicFramePr/>
          <p:nvPr/>
        </p:nvGraphicFramePr>
        <p:xfrm>
          <a:off x="389880" y="1599480"/>
          <a:ext cx="11181960" cy="395028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103480"/>
                <a:gridCol w="2651040"/>
                <a:gridCol w="6427800"/>
              </a:tblGrid>
              <a:tr h="40176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ENTITY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PRIMARY KEY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0b3c6b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FOREIGN KEY (REFERENCES)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0b3c6b"/>
                    </a:solidFill>
                  </a:tcPr>
                </a:tc>
              </a:tr>
              <a:tr h="40320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b3c6b"/>
                          </a:solidFill>
                          <a:uFillTx/>
                          <a:latin typeface="Calibri"/>
                          <a:ea typeface="Calibri"/>
                        </a:rPr>
                        <a:t>Patient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1668a8"/>
                          </a:solidFill>
                          <a:uFillTx/>
                          <a:latin typeface="Calibri"/>
                          <a:ea typeface="Calibri"/>
                        </a:rPr>
                        <a:t>Patient_ID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5a6b7b"/>
                          </a:solidFill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40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b3c6b"/>
                          </a:solidFill>
                          <a:uFillTx/>
                          <a:latin typeface="Calibri"/>
                          <a:ea typeface="Calibri"/>
                        </a:rPr>
                        <a:t>Doctor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1668a8"/>
                          </a:solidFill>
                          <a:uFillTx/>
                          <a:latin typeface="Calibri"/>
                          <a:ea typeface="Calibri"/>
                        </a:rPr>
                        <a:t>Doctor_ID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cfe4f5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e07a2f"/>
                          </a:solidFill>
                          <a:uFillTx/>
                          <a:latin typeface="Calibri"/>
                          <a:ea typeface="Calibri"/>
                        </a:rPr>
                        <a:t>Department_ID → Department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edf4fa"/>
                    </a:solidFill>
                  </a:tcPr>
                </a:tc>
              </a:tr>
              <a:tr h="40320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b3c6b"/>
                          </a:solidFill>
                          <a:uFillTx/>
                          <a:latin typeface="Calibri"/>
                          <a:ea typeface="Calibri"/>
                        </a:rPr>
                        <a:t>Department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1668a8"/>
                          </a:solidFill>
                          <a:uFillTx/>
                          <a:latin typeface="Calibri"/>
                          <a:ea typeface="Calibri"/>
                        </a:rPr>
                        <a:t>Department_ID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5a6b7b"/>
                          </a:solidFill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80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b3c6b"/>
                          </a:solidFill>
                          <a:uFillTx/>
                          <a:latin typeface="Calibri"/>
                          <a:ea typeface="Calibri"/>
                        </a:rPr>
                        <a:t>Appointment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1668a8"/>
                          </a:solidFill>
                          <a:uFillTx/>
                          <a:latin typeface="Calibri"/>
                          <a:ea typeface="Calibri"/>
                        </a:rPr>
                        <a:t>Appointment_ID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cfe4f5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e07a2f"/>
                          </a:solidFill>
                          <a:uFillTx/>
                          <a:latin typeface="Calibri"/>
                          <a:ea typeface="Calibri"/>
                        </a:rPr>
                        <a:t>Patient_ID → Patient,  Doctor_ID → Doctor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edf4fa"/>
                    </a:solidFill>
                  </a:tcPr>
                </a:tc>
              </a:tr>
              <a:tr h="40320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b3c6b"/>
                          </a:solidFill>
                          <a:uFillTx/>
                          <a:latin typeface="Calibri"/>
                          <a:ea typeface="Calibri"/>
                        </a:rPr>
                        <a:t>Billing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1668a8"/>
                          </a:solidFill>
                          <a:uFillTx/>
                          <a:latin typeface="Calibri"/>
                          <a:ea typeface="Calibri"/>
                        </a:rPr>
                        <a:t>Bill_ID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e07a2f"/>
                          </a:solidFill>
                          <a:uFillTx/>
                          <a:latin typeface="Calibri"/>
                          <a:ea typeface="Calibri"/>
                        </a:rPr>
                        <a:t>Patient_ID → Patient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76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b3c6b"/>
                          </a:solidFill>
                          <a:uFillTx/>
                          <a:latin typeface="Calibri"/>
                          <a:ea typeface="Calibri"/>
                        </a:rPr>
                        <a:t>Staff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1668a8"/>
                          </a:solidFill>
                          <a:uFillTx/>
                          <a:latin typeface="Calibri"/>
                          <a:ea typeface="Calibri"/>
                        </a:rPr>
                        <a:t>Staff_ID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cfe4f5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5a6b7b"/>
                          </a:solidFill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edf4fa"/>
                    </a:solidFill>
                  </a:tcPr>
                </a:tc>
              </a:tr>
              <a:tr h="40320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b3c6b"/>
                          </a:solidFill>
                          <a:uFillTx/>
                          <a:latin typeface="Calibri"/>
                          <a:ea typeface="Calibri"/>
                        </a:rPr>
                        <a:t>Medicine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1668a8"/>
                          </a:solidFill>
                          <a:uFillTx/>
                          <a:latin typeface="Calibri"/>
                          <a:ea typeface="Calibri"/>
                        </a:rPr>
                        <a:t>Medicine_ID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100" strike="noStrike" u="none">
                          <a:solidFill>
                            <a:srgbClr val="5a6b7b"/>
                          </a:solidFill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760"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0b3c6b"/>
                          </a:solidFill>
                          <a:uFillTx/>
                          <a:latin typeface="Calibri"/>
                          <a:ea typeface="Calibri"/>
                        </a:rPr>
                        <a:t>Prescription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edf4fa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200" strike="noStrike" u="none">
                          <a:solidFill>
                            <a:srgbClr val="1668a8"/>
                          </a:solidFill>
                          <a:uFillTx/>
                          <a:latin typeface="Calibri"/>
                          <a:ea typeface="Calibri"/>
                        </a:rPr>
                        <a:t>Prescription_ID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cfe4f5"/>
                    </a:solidFill>
                  </a:tcPr>
                </a:tc>
                <a:tc>
                  <a:txBody>
                    <a:bodyPr lIns="127080" rIns="127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00" strike="noStrike" u="none">
                          <a:solidFill>
                            <a:srgbClr val="e07a2f"/>
                          </a:solidFill>
                          <a:uFillTx/>
                          <a:latin typeface="Calibri"/>
                          <a:ea typeface="Calibri"/>
                        </a:rPr>
                        <a:t>Appointment_ID → Appointment,  Medicine_ID → Medicine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127080" marR="127080">
                    <a:lnL w="5760">
                      <a:solidFill>
                        <a:srgbClr val="d6e3ee"/>
                      </a:solidFill>
                      <a:prstDash val="solid"/>
                    </a:lnL>
                    <a:lnR w="5760">
                      <a:solidFill>
                        <a:srgbClr val="d6e3ee"/>
                      </a:solidFill>
                      <a:prstDash val="solid"/>
                    </a:lnR>
                    <a:lnT w="5760">
                      <a:solidFill>
                        <a:srgbClr val="d6e3ee"/>
                      </a:solidFill>
                      <a:prstDash val="solid"/>
                    </a:lnT>
                    <a:lnB w="5760">
                      <a:solidFill>
                        <a:srgbClr val="d6e3ee"/>
                      </a:solidFill>
                      <a:prstDash val="solid"/>
                    </a:lnB>
                    <a:solidFill>
                      <a:srgbClr val="edf4fa"/>
                    </a:solidFill>
                  </a:tcPr>
                </a:tc>
              </a:tr>
            </a:tbl>
          </a:graphicData>
        </a:graphic>
      </p:graphicFrame>
      <p:sp>
        <p:nvSpPr>
          <p:cNvPr id="296" name="Shape 5"/>
          <p:cNvSpPr/>
          <p:nvPr/>
        </p:nvSpPr>
        <p:spPr>
          <a:xfrm>
            <a:off x="503280" y="5761080"/>
            <a:ext cx="2147400" cy="410760"/>
          </a:xfrm>
          <a:prstGeom prst="roundRect">
            <a:avLst>
              <a:gd name="adj" fmla="val 13333"/>
            </a:avLst>
          </a:prstGeom>
          <a:solidFill>
            <a:srgbClr val="dceb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649440" y="5870520"/>
            <a:ext cx="201240" cy="20124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941400" y="5761080"/>
            <a:ext cx="16459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Primary Key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2879640" y="5761080"/>
            <a:ext cx="2149200" cy="410760"/>
          </a:xfrm>
          <a:prstGeom prst="roundRect">
            <a:avLst>
              <a:gd name="adj" fmla="val 13333"/>
            </a:avLst>
          </a:prstGeom>
          <a:solidFill>
            <a:srgbClr val="fbe7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3027240" y="5870520"/>
            <a:ext cx="199800" cy="201240"/>
          </a:xfrm>
          <a:prstGeom prst="ellipse">
            <a:avLst/>
          </a:prstGeom>
          <a:solidFill>
            <a:srgbClr val="e07a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3319560" y="5761080"/>
            <a:ext cx="16459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Foreign Key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Text 11"/>
          <p:cNvSpPr/>
          <p:nvPr/>
        </p:nvSpPr>
        <p:spPr>
          <a:xfrm>
            <a:off x="5486400" y="5761080"/>
            <a:ext cx="62179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Referential integrity: every foreign key value must exist in the referenced primary key column.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Text 12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Text 13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7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5" name="object 3" descr=""/>
          <p:cNvPicPr/>
          <p:nvPr/>
        </p:nvPicPr>
        <p:blipFill>
          <a:blip r:embed="rId1"/>
          <a:stretch/>
        </p:blipFill>
        <p:spPr>
          <a:xfrm>
            <a:off x="9783720" y="238320"/>
            <a:ext cx="213012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07" name="Shape 2"/>
          <p:cNvSpPr/>
          <p:nvPr/>
        </p:nvSpPr>
        <p:spPr>
          <a:xfrm>
            <a:off x="457200" y="32868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Relational Schema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8778960" y="38412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trike="noStrike" u="none">
                <a:solidFill>
                  <a:srgbClr val="dcebf7"/>
                </a:solidFill>
                <a:uFillTx/>
                <a:latin typeface="Calibri"/>
                <a:ea typeface="Calibri"/>
              </a:rPr>
              <a:t>07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Shape 5"/>
          <p:cNvSpPr/>
          <p:nvPr/>
        </p:nvSpPr>
        <p:spPr>
          <a:xfrm>
            <a:off x="457200" y="1325520"/>
            <a:ext cx="2441160" cy="2139480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457200" y="1325520"/>
            <a:ext cx="2441160" cy="456840"/>
          </a:xfrm>
          <a:prstGeom prst="roundRect">
            <a:avLst>
              <a:gd name="adj" fmla="val 16000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603360" y="1325520"/>
            <a:ext cx="2166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PATIENT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639720" y="1828800"/>
            <a:ext cx="212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sng">
                <a:solidFill>
                  <a:srgbClr val="1668a8"/>
                </a:solidFill>
                <a:uFillTx/>
                <a:latin typeface="Calibri"/>
                <a:ea typeface="Calibri"/>
              </a:rPr>
              <a:t>Patient_ID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639720" y="2084400"/>
            <a:ext cx="212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Name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Text 10"/>
          <p:cNvSpPr/>
          <p:nvPr/>
        </p:nvSpPr>
        <p:spPr>
          <a:xfrm>
            <a:off x="639720" y="2341440"/>
            <a:ext cx="21222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Age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639720" y="2597040"/>
            <a:ext cx="21222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Gender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Text 12"/>
          <p:cNvSpPr/>
          <p:nvPr/>
        </p:nvSpPr>
        <p:spPr>
          <a:xfrm>
            <a:off x="639720" y="2852640"/>
            <a:ext cx="21222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Phone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Text 13"/>
          <p:cNvSpPr/>
          <p:nvPr/>
        </p:nvSpPr>
        <p:spPr>
          <a:xfrm>
            <a:off x="639720" y="3108240"/>
            <a:ext cx="21222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Address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Shape 14"/>
          <p:cNvSpPr/>
          <p:nvPr/>
        </p:nvSpPr>
        <p:spPr>
          <a:xfrm>
            <a:off x="3402000" y="1325520"/>
            <a:ext cx="2441160" cy="1626840"/>
          </a:xfrm>
          <a:prstGeom prst="roundRect">
            <a:avLst>
              <a:gd name="adj" fmla="val 4495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20" name="Shape 15"/>
          <p:cNvSpPr/>
          <p:nvPr/>
        </p:nvSpPr>
        <p:spPr>
          <a:xfrm>
            <a:off x="3402000" y="1325520"/>
            <a:ext cx="2441160" cy="456840"/>
          </a:xfrm>
          <a:prstGeom prst="roundRect">
            <a:avLst>
              <a:gd name="adj" fmla="val 16000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3548160" y="1325520"/>
            <a:ext cx="2166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DOCTOR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3584520" y="1828800"/>
            <a:ext cx="2120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sng">
                <a:solidFill>
                  <a:srgbClr val="1668a8"/>
                </a:solidFill>
                <a:uFillTx/>
                <a:latin typeface="Calibri"/>
                <a:ea typeface="Calibri"/>
              </a:rPr>
              <a:t>Doctor_ID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Text 18"/>
          <p:cNvSpPr/>
          <p:nvPr/>
        </p:nvSpPr>
        <p:spPr>
          <a:xfrm>
            <a:off x="3584520" y="2084400"/>
            <a:ext cx="2120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Name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3584520" y="2341440"/>
            <a:ext cx="212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Specialization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3584520" y="2597040"/>
            <a:ext cx="21207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Department_ID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6" name="Shape 21"/>
          <p:cNvSpPr/>
          <p:nvPr/>
        </p:nvSpPr>
        <p:spPr>
          <a:xfrm>
            <a:off x="6345360" y="1325520"/>
            <a:ext cx="2441160" cy="1115640"/>
          </a:xfrm>
          <a:prstGeom prst="roundRect">
            <a:avLst>
              <a:gd name="adj" fmla="val 6556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27" name="Shape 22"/>
          <p:cNvSpPr/>
          <p:nvPr/>
        </p:nvSpPr>
        <p:spPr>
          <a:xfrm>
            <a:off x="6345360" y="1325520"/>
            <a:ext cx="2441160" cy="456840"/>
          </a:xfrm>
          <a:prstGeom prst="roundRect">
            <a:avLst>
              <a:gd name="adj" fmla="val 16000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28" name="Text 23"/>
          <p:cNvSpPr/>
          <p:nvPr/>
        </p:nvSpPr>
        <p:spPr>
          <a:xfrm>
            <a:off x="6492960" y="1325520"/>
            <a:ext cx="2166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DEPARTMENT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Text 24"/>
          <p:cNvSpPr/>
          <p:nvPr/>
        </p:nvSpPr>
        <p:spPr>
          <a:xfrm>
            <a:off x="6529320" y="1828800"/>
            <a:ext cx="2120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sng">
                <a:solidFill>
                  <a:srgbClr val="1668a8"/>
                </a:solidFill>
                <a:uFillTx/>
                <a:latin typeface="Calibri"/>
                <a:ea typeface="Calibri"/>
              </a:rPr>
              <a:t>Department_ID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Text 25"/>
          <p:cNvSpPr/>
          <p:nvPr/>
        </p:nvSpPr>
        <p:spPr>
          <a:xfrm>
            <a:off x="6529320" y="2084400"/>
            <a:ext cx="2120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Department_Name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Shape 26"/>
          <p:cNvSpPr/>
          <p:nvPr/>
        </p:nvSpPr>
        <p:spPr>
          <a:xfrm>
            <a:off x="9290160" y="1325520"/>
            <a:ext cx="2441160" cy="1883880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32" name="Shape 27"/>
          <p:cNvSpPr/>
          <p:nvPr/>
        </p:nvSpPr>
        <p:spPr>
          <a:xfrm>
            <a:off x="9290160" y="1325520"/>
            <a:ext cx="2441160" cy="456840"/>
          </a:xfrm>
          <a:prstGeom prst="roundRect">
            <a:avLst>
              <a:gd name="adj" fmla="val 16000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33" name="Text 28"/>
          <p:cNvSpPr/>
          <p:nvPr/>
        </p:nvSpPr>
        <p:spPr>
          <a:xfrm>
            <a:off x="9435960" y="1325520"/>
            <a:ext cx="216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APPOINTMENT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Text 29"/>
          <p:cNvSpPr/>
          <p:nvPr/>
        </p:nvSpPr>
        <p:spPr>
          <a:xfrm>
            <a:off x="9472680" y="1828800"/>
            <a:ext cx="212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sng">
                <a:solidFill>
                  <a:srgbClr val="1668a8"/>
                </a:solidFill>
                <a:uFillTx/>
                <a:latin typeface="Calibri"/>
                <a:ea typeface="Calibri"/>
              </a:rPr>
              <a:t>Appointment_ID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Text 30"/>
          <p:cNvSpPr/>
          <p:nvPr/>
        </p:nvSpPr>
        <p:spPr>
          <a:xfrm>
            <a:off x="9472680" y="2084400"/>
            <a:ext cx="212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Patient_ID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Text 31"/>
          <p:cNvSpPr/>
          <p:nvPr/>
        </p:nvSpPr>
        <p:spPr>
          <a:xfrm>
            <a:off x="9472680" y="2341440"/>
            <a:ext cx="21222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Doctor_ID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Text 32"/>
          <p:cNvSpPr/>
          <p:nvPr/>
        </p:nvSpPr>
        <p:spPr>
          <a:xfrm>
            <a:off x="9472680" y="2597040"/>
            <a:ext cx="21222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Date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Text 33"/>
          <p:cNvSpPr/>
          <p:nvPr/>
        </p:nvSpPr>
        <p:spPr>
          <a:xfrm>
            <a:off x="9472680" y="2852640"/>
            <a:ext cx="21222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Time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Shape 34"/>
          <p:cNvSpPr/>
          <p:nvPr/>
        </p:nvSpPr>
        <p:spPr>
          <a:xfrm>
            <a:off x="457200" y="3840120"/>
            <a:ext cx="2441160" cy="1626840"/>
          </a:xfrm>
          <a:prstGeom prst="roundRect">
            <a:avLst>
              <a:gd name="adj" fmla="val 4495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40" name="Shape 35"/>
          <p:cNvSpPr/>
          <p:nvPr/>
        </p:nvSpPr>
        <p:spPr>
          <a:xfrm>
            <a:off x="457200" y="3840120"/>
            <a:ext cx="2441160" cy="456840"/>
          </a:xfrm>
          <a:prstGeom prst="roundRect">
            <a:avLst>
              <a:gd name="adj" fmla="val 16000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41" name="Text 36"/>
          <p:cNvSpPr/>
          <p:nvPr/>
        </p:nvSpPr>
        <p:spPr>
          <a:xfrm>
            <a:off x="603360" y="3840120"/>
            <a:ext cx="2166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BILLING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Text 37"/>
          <p:cNvSpPr/>
          <p:nvPr/>
        </p:nvSpPr>
        <p:spPr>
          <a:xfrm>
            <a:off x="639720" y="4343400"/>
            <a:ext cx="212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sng">
                <a:solidFill>
                  <a:srgbClr val="1668a8"/>
                </a:solidFill>
                <a:uFillTx/>
                <a:latin typeface="Calibri"/>
                <a:ea typeface="Calibri"/>
              </a:rPr>
              <a:t>Bill_ID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3" name="Text 38"/>
          <p:cNvSpPr/>
          <p:nvPr/>
        </p:nvSpPr>
        <p:spPr>
          <a:xfrm>
            <a:off x="639720" y="4599000"/>
            <a:ext cx="212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Patient_ID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Text 39"/>
          <p:cNvSpPr/>
          <p:nvPr/>
        </p:nvSpPr>
        <p:spPr>
          <a:xfrm>
            <a:off x="639720" y="4856040"/>
            <a:ext cx="21222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Amount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Text 40"/>
          <p:cNvSpPr/>
          <p:nvPr/>
        </p:nvSpPr>
        <p:spPr>
          <a:xfrm>
            <a:off x="639720" y="5111640"/>
            <a:ext cx="21222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Date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Shape 41"/>
          <p:cNvSpPr/>
          <p:nvPr/>
        </p:nvSpPr>
        <p:spPr>
          <a:xfrm>
            <a:off x="3402000" y="3840120"/>
            <a:ext cx="244116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47" name="Shape 42"/>
          <p:cNvSpPr/>
          <p:nvPr/>
        </p:nvSpPr>
        <p:spPr>
          <a:xfrm>
            <a:off x="3402000" y="3840120"/>
            <a:ext cx="2441160" cy="456840"/>
          </a:xfrm>
          <a:prstGeom prst="roundRect">
            <a:avLst>
              <a:gd name="adj" fmla="val 16000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48" name="Text 43"/>
          <p:cNvSpPr/>
          <p:nvPr/>
        </p:nvSpPr>
        <p:spPr>
          <a:xfrm>
            <a:off x="3548160" y="3840120"/>
            <a:ext cx="2166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STAFF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Text 44"/>
          <p:cNvSpPr/>
          <p:nvPr/>
        </p:nvSpPr>
        <p:spPr>
          <a:xfrm>
            <a:off x="3584520" y="4343400"/>
            <a:ext cx="2120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sng">
                <a:solidFill>
                  <a:srgbClr val="1668a8"/>
                </a:solidFill>
                <a:uFillTx/>
                <a:latin typeface="Calibri"/>
                <a:ea typeface="Calibri"/>
              </a:rPr>
              <a:t>Staff_ID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Text 45"/>
          <p:cNvSpPr/>
          <p:nvPr/>
        </p:nvSpPr>
        <p:spPr>
          <a:xfrm>
            <a:off x="3584520" y="4599000"/>
            <a:ext cx="2120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Name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Text 46"/>
          <p:cNvSpPr/>
          <p:nvPr/>
        </p:nvSpPr>
        <p:spPr>
          <a:xfrm>
            <a:off x="3584520" y="4856040"/>
            <a:ext cx="212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Position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Shape 47"/>
          <p:cNvSpPr/>
          <p:nvPr/>
        </p:nvSpPr>
        <p:spPr>
          <a:xfrm>
            <a:off x="6345360" y="3840120"/>
            <a:ext cx="2441160" cy="1626840"/>
          </a:xfrm>
          <a:prstGeom prst="roundRect">
            <a:avLst>
              <a:gd name="adj" fmla="val 4495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53" name="Shape 48"/>
          <p:cNvSpPr/>
          <p:nvPr/>
        </p:nvSpPr>
        <p:spPr>
          <a:xfrm>
            <a:off x="6345360" y="3840120"/>
            <a:ext cx="2441160" cy="456840"/>
          </a:xfrm>
          <a:prstGeom prst="roundRect">
            <a:avLst>
              <a:gd name="adj" fmla="val 16000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54" name="Text 49"/>
          <p:cNvSpPr/>
          <p:nvPr/>
        </p:nvSpPr>
        <p:spPr>
          <a:xfrm>
            <a:off x="6492960" y="3840120"/>
            <a:ext cx="2166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MEDICINE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Text 50"/>
          <p:cNvSpPr/>
          <p:nvPr/>
        </p:nvSpPr>
        <p:spPr>
          <a:xfrm>
            <a:off x="6529320" y="4343400"/>
            <a:ext cx="2120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sng">
                <a:solidFill>
                  <a:srgbClr val="1668a8"/>
                </a:solidFill>
                <a:uFillTx/>
                <a:latin typeface="Calibri"/>
                <a:ea typeface="Calibri"/>
              </a:rPr>
              <a:t>Medicine_ID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Text 51"/>
          <p:cNvSpPr/>
          <p:nvPr/>
        </p:nvSpPr>
        <p:spPr>
          <a:xfrm>
            <a:off x="6529320" y="4599000"/>
            <a:ext cx="21207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Name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Text 52"/>
          <p:cNvSpPr/>
          <p:nvPr/>
        </p:nvSpPr>
        <p:spPr>
          <a:xfrm>
            <a:off x="6529320" y="4856040"/>
            <a:ext cx="21207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Price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Text 53"/>
          <p:cNvSpPr/>
          <p:nvPr/>
        </p:nvSpPr>
        <p:spPr>
          <a:xfrm>
            <a:off x="6529320" y="5111640"/>
            <a:ext cx="21207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Stock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Shape 54"/>
          <p:cNvSpPr/>
          <p:nvPr/>
        </p:nvSpPr>
        <p:spPr>
          <a:xfrm>
            <a:off x="9290160" y="3840120"/>
            <a:ext cx="2441160" cy="1626840"/>
          </a:xfrm>
          <a:prstGeom prst="roundRect">
            <a:avLst>
              <a:gd name="adj" fmla="val 4495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0" name="Shape 55"/>
          <p:cNvSpPr/>
          <p:nvPr/>
        </p:nvSpPr>
        <p:spPr>
          <a:xfrm>
            <a:off x="9290160" y="3840120"/>
            <a:ext cx="2441160" cy="456840"/>
          </a:xfrm>
          <a:prstGeom prst="roundRect">
            <a:avLst>
              <a:gd name="adj" fmla="val 16000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1" name="Text 56"/>
          <p:cNvSpPr/>
          <p:nvPr/>
        </p:nvSpPr>
        <p:spPr>
          <a:xfrm>
            <a:off x="9435960" y="3840120"/>
            <a:ext cx="216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PRESCRIPTION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Text 57"/>
          <p:cNvSpPr/>
          <p:nvPr/>
        </p:nvSpPr>
        <p:spPr>
          <a:xfrm>
            <a:off x="9472680" y="4343400"/>
            <a:ext cx="212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sng">
                <a:solidFill>
                  <a:srgbClr val="1668a8"/>
                </a:solidFill>
                <a:uFillTx/>
                <a:latin typeface="Calibri"/>
                <a:ea typeface="Calibri"/>
              </a:rPr>
              <a:t>Prescription_ID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Text 58"/>
          <p:cNvSpPr/>
          <p:nvPr/>
        </p:nvSpPr>
        <p:spPr>
          <a:xfrm>
            <a:off x="9472680" y="4599000"/>
            <a:ext cx="212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Appointment_ID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Text 59"/>
          <p:cNvSpPr/>
          <p:nvPr/>
        </p:nvSpPr>
        <p:spPr>
          <a:xfrm>
            <a:off x="9472680" y="4856040"/>
            <a:ext cx="21222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000" strike="noStrike" u="none">
                <a:solidFill>
                  <a:srgbClr val="e07a2f"/>
                </a:solidFill>
                <a:uFillTx/>
                <a:latin typeface="Calibri"/>
                <a:ea typeface="Calibri"/>
              </a:rPr>
              <a:t>Medicine_ID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Text 60"/>
          <p:cNvSpPr/>
          <p:nvPr/>
        </p:nvSpPr>
        <p:spPr>
          <a:xfrm>
            <a:off x="9472680" y="5111640"/>
            <a:ext cx="21222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3b4c5c"/>
                </a:solidFill>
                <a:uFillTx/>
                <a:latin typeface="Calibri"/>
                <a:ea typeface="Calibri"/>
              </a:rPr>
              <a:t>Dosage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Shape 61"/>
          <p:cNvSpPr/>
          <p:nvPr/>
        </p:nvSpPr>
        <p:spPr>
          <a:xfrm>
            <a:off x="5843520" y="1965240"/>
            <a:ext cx="501840" cy="360"/>
          </a:xfrm>
          <a:prstGeom prst="line">
            <a:avLst/>
          </a:prstGeom>
          <a:ln w="19080">
            <a:solidFill>
              <a:srgbClr val="e07a2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7" name="Shape 62"/>
          <p:cNvSpPr/>
          <p:nvPr/>
        </p:nvSpPr>
        <p:spPr>
          <a:xfrm flipV="1">
            <a:off x="1673280" y="3107880"/>
            <a:ext cx="360" cy="731880"/>
          </a:xfrm>
          <a:prstGeom prst="line">
            <a:avLst/>
          </a:prstGeom>
          <a:ln w="19080">
            <a:solidFill>
              <a:srgbClr val="e07a2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8" name="Shape 63"/>
          <p:cNvSpPr/>
          <p:nvPr/>
        </p:nvSpPr>
        <p:spPr>
          <a:xfrm flipV="1">
            <a:off x="10515600" y="3063960"/>
            <a:ext cx="360" cy="776160"/>
          </a:xfrm>
          <a:prstGeom prst="line">
            <a:avLst/>
          </a:prstGeom>
          <a:ln w="19080">
            <a:solidFill>
              <a:srgbClr val="e07a2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9" name="Shape 64"/>
          <p:cNvSpPr/>
          <p:nvPr/>
        </p:nvSpPr>
        <p:spPr>
          <a:xfrm flipH="1">
            <a:off x="8786880" y="4708440"/>
            <a:ext cx="503280" cy="360"/>
          </a:xfrm>
          <a:prstGeom prst="line">
            <a:avLst/>
          </a:prstGeom>
          <a:ln w="19080">
            <a:solidFill>
              <a:srgbClr val="e07a2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70" name="Text 65"/>
          <p:cNvSpPr/>
          <p:nvPr/>
        </p:nvSpPr>
        <p:spPr>
          <a:xfrm>
            <a:off x="457200" y="5943600"/>
            <a:ext cx="11247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Arrows point from a foreign key to the referenced relation.  Appointment.Patient_ID → PATIENT   and   Appointment.Doctor_ID → DOCTOR.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Text 66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Text 67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8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73" name="object 3" descr=""/>
          <p:cNvPicPr/>
          <p:nvPr/>
        </p:nvPicPr>
        <p:blipFill>
          <a:blip r:embed="rId1"/>
          <a:stretch/>
        </p:blipFill>
        <p:spPr>
          <a:xfrm>
            <a:off x="9783720" y="238320"/>
            <a:ext cx="213012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object 3" descr=""/>
          <p:cNvPicPr/>
          <p:nvPr/>
        </p:nvPicPr>
        <p:blipFill>
          <a:blip r:embed="rId1"/>
          <a:stretch/>
        </p:blipFill>
        <p:spPr>
          <a:xfrm>
            <a:off x="9783720" y="118440"/>
            <a:ext cx="2130120" cy="65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Picture 3" descr=""/>
          <p:cNvPicPr/>
          <p:nvPr/>
        </p:nvPicPr>
        <p:blipFill>
          <a:blip r:embed="rId2"/>
          <a:stretch/>
        </p:blipFill>
        <p:spPr>
          <a:xfrm>
            <a:off x="434880" y="775440"/>
            <a:ext cx="11478960" cy="608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77" name="Shape 2"/>
          <p:cNvSpPr/>
          <p:nvPr/>
        </p:nvSpPr>
        <p:spPr>
          <a:xfrm>
            <a:off x="457200" y="32868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78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Advantages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549360" y="1417680"/>
            <a:ext cx="2212560" cy="21474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0" name="Shape 6"/>
          <p:cNvSpPr/>
          <p:nvPr/>
        </p:nvSpPr>
        <p:spPr>
          <a:xfrm>
            <a:off x="1220760" y="1709640"/>
            <a:ext cx="867960" cy="86796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1" name="Text 7"/>
          <p:cNvSpPr/>
          <p:nvPr/>
        </p:nvSpPr>
        <p:spPr>
          <a:xfrm>
            <a:off x="1220760" y="1709640"/>
            <a:ext cx="867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⚡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2" name="Text 8"/>
          <p:cNvSpPr/>
          <p:nvPr/>
        </p:nvSpPr>
        <p:spPr>
          <a:xfrm>
            <a:off x="712800" y="2716200"/>
            <a:ext cx="1883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Faster patient registration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3" name="Shape 9"/>
          <p:cNvSpPr/>
          <p:nvPr/>
        </p:nvSpPr>
        <p:spPr>
          <a:xfrm>
            <a:off x="2889360" y="1417680"/>
            <a:ext cx="2212560" cy="21474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4" name="Shape 10"/>
          <p:cNvSpPr/>
          <p:nvPr/>
        </p:nvSpPr>
        <p:spPr>
          <a:xfrm>
            <a:off x="3562200" y="1709640"/>
            <a:ext cx="868320" cy="86796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5" name="Text 11"/>
          <p:cNvSpPr/>
          <p:nvPr/>
        </p:nvSpPr>
        <p:spPr>
          <a:xfrm>
            <a:off x="3562200" y="1709640"/>
            <a:ext cx="868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▦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6" name="Text 12"/>
          <p:cNvSpPr/>
          <p:nvPr/>
        </p:nvSpPr>
        <p:spPr>
          <a:xfrm>
            <a:off x="3054240" y="2716200"/>
            <a:ext cx="188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Better appointment scheduling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Shape 13"/>
          <p:cNvSpPr/>
          <p:nvPr/>
        </p:nvSpPr>
        <p:spPr>
          <a:xfrm>
            <a:off x="5230800" y="1417680"/>
            <a:ext cx="2212560" cy="21474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8" name="Shape 14"/>
          <p:cNvSpPr/>
          <p:nvPr/>
        </p:nvSpPr>
        <p:spPr>
          <a:xfrm>
            <a:off x="5902200" y="1709640"/>
            <a:ext cx="867960" cy="86796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9" name="Text 15"/>
          <p:cNvSpPr/>
          <p:nvPr/>
        </p:nvSpPr>
        <p:spPr>
          <a:xfrm>
            <a:off x="5902200" y="1709640"/>
            <a:ext cx="867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✎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Text 16"/>
          <p:cNvSpPr/>
          <p:nvPr/>
        </p:nvSpPr>
        <p:spPr>
          <a:xfrm>
            <a:off x="5394240" y="2716200"/>
            <a:ext cx="18842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Reduced paperwork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Shape 17"/>
          <p:cNvSpPr/>
          <p:nvPr/>
        </p:nvSpPr>
        <p:spPr>
          <a:xfrm>
            <a:off x="7570800" y="1417680"/>
            <a:ext cx="2212560" cy="21474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92" name="Shape 18"/>
          <p:cNvSpPr/>
          <p:nvPr/>
        </p:nvSpPr>
        <p:spPr>
          <a:xfrm>
            <a:off x="8244000" y="1709640"/>
            <a:ext cx="867960" cy="86796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93" name="Text 19"/>
          <p:cNvSpPr/>
          <p:nvPr/>
        </p:nvSpPr>
        <p:spPr>
          <a:xfrm>
            <a:off x="8244000" y="1709640"/>
            <a:ext cx="867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★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Text 20"/>
          <p:cNvSpPr/>
          <p:nvPr/>
        </p:nvSpPr>
        <p:spPr>
          <a:xfrm>
            <a:off x="7736040" y="2716200"/>
            <a:ext cx="1883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Improved security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5" name="Shape 21"/>
          <p:cNvSpPr/>
          <p:nvPr/>
        </p:nvSpPr>
        <p:spPr>
          <a:xfrm>
            <a:off x="9912240" y="1417680"/>
            <a:ext cx="2212560" cy="21474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96" name="Shape 22"/>
          <p:cNvSpPr/>
          <p:nvPr/>
        </p:nvSpPr>
        <p:spPr>
          <a:xfrm>
            <a:off x="10584000" y="1709640"/>
            <a:ext cx="867960" cy="86796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97" name="Text 23"/>
          <p:cNvSpPr/>
          <p:nvPr/>
        </p:nvSpPr>
        <p:spPr>
          <a:xfrm>
            <a:off x="10584000" y="1709640"/>
            <a:ext cx="867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₹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Text 24"/>
          <p:cNvSpPr/>
          <p:nvPr/>
        </p:nvSpPr>
        <p:spPr>
          <a:xfrm>
            <a:off x="10077480" y="2716200"/>
            <a:ext cx="188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Accurate billing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Shape 25"/>
          <p:cNvSpPr/>
          <p:nvPr/>
        </p:nvSpPr>
        <p:spPr>
          <a:xfrm>
            <a:off x="549360" y="3767040"/>
            <a:ext cx="2212560" cy="21492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0" name="Shape 26"/>
          <p:cNvSpPr/>
          <p:nvPr/>
        </p:nvSpPr>
        <p:spPr>
          <a:xfrm>
            <a:off x="1220760" y="4059360"/>
            <a:ext cx="867960" cy="86940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1" name="Text 27"/>
          <p:cNvSpPr/>
          <p:nvPr/>
        </p:nvSpPr>
        <p:spPr>
          <a:xfrm>
            <a:off x="1220760" y="4059360"/>
            <a:ext cx="86796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≡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2" name="Text 28"/>
          <p:cNvSpPr/>
          <p:nvPr/>
        </p:nvSpPr>
        <p:spPr>
          <a:xfrm>
            <a:off x="712800" y="5065560"/>
            <a:ext cx="1883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Better data consistency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3" name="Shape 29"/>
          <p:cNvSpPr/>
          <p:nvPr/>
        </p:nvSpPr>
        <p:spPr>
          <a:xfrm>
            <a:off x="2889360" y="3767040"/>
            <a:ext cx="2212560" cy="21492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4" name="Shape 30"/>
          <p:cNvSpPr/>
          <p:nvPr/>
        </p:nvSpPr>
        <p:spPr>
          <a:xfrm>
            <a:off x="3562200" y="4059360"/>
            <a:ext cx="868320" cy="86940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5" name="Text 31"/>
          <p:cNvSpPr/>
          <p:nvPr/>
        </p:nvSpPr>
        <p:spPr>
          <a:xfrm>
            <a:off x="3562200" y="4059360"/>
            <a:ext cx="86832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▥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Text 32"/>
          <p:cNvSpPr/>
          <p:nvPr/>
        </p:nvSpPr>
        <p:spPr>
          <a:xfrm>
            <a:off x="3054240" y="5065560"/>
            <a:ext cx="188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Faster report generation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Shape 33"/>
          <p:cNvSpPr/>
          <p:nvPr/>
        </p:nvSpPr>
        <p:spPr>
          <a:xfrm>
            <a:off x="5230800" y="3767040"/>
            <a:ext cx="2212560" cy="21492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8" name="Shape 34"/>
          <p:cNvSpPr/>
          <p:nvPr/>
        </p:nvSpPr>
        <p:spPr>
          <a:xfrm>
            <a:off x="5902200" y="4059360"/>
            <a:ext cx="867960" cy="86940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9" name="Text 35"/>
          <p:cNvSpPr/>
          <p:nvPr/>
        </p:nvSpPr>
        <p:spPr>
          <a:xfrm>
            <a:off x="5902200" y="4059360"/>
            <a:ext cx="86796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☎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Text 36"/>
          <p:cNvSpPr/>
          <p:nvPr/>
        </p:nvSpPr>
        <p:spPr>
          <a:xfrm>
            <a:off x="5394240" y="5065560"/>
            <a:ext cx="18842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Improved communication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Shape 37"/>
          <p:cNvSpPr/>
          <p:nvPr/>
        </p:nvSpPr>
        <p:spPr>
          <a:xfrm>
            <a:off x="7570800" y="3767040"/>
            <a:ext cx="2212560" cy="21492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12" name="Shape 38"/>
          <p:cNvSpPr/>
          <p:nvPr/>
        </p:nvSpPr>
        <p:spPr>
          <a:xfrm>
            <a:off x="8244000" y="4059360"/>
            <a:ext cx="867960" cy="86940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13" name="Text 39"/>
          <p:cNvSpPr/>
          <p:nvPr/>
        </p:nvSpPr>
        <p:spPr>
          <a:xfrm>
            <a:off x="8244000" y="4059360"/>
            <a:ext cx="86796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❤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4" name="Text 40"/>
          <p:cNvSpPr/>
          <p:nvPr/>
        </p:nvSpPr>
        <p:spPr>
          <a:xfrm>
            <a:off x="7736040" y="5065560"/>
            <a:ext cx="18838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Better patient care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Shape 41"/>
          <p:cNvSpPr/>
          <p:nvPr/>
        </p:nvSpPr>
        <p:spPr>
          <a:xfrm>
            <a:off x="9912240" y="3767040"/>
            <a:ext cx="2212560" cy="214920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16" name="Shape 42"/>
          <p:cNvSpPr/>
          <p:nvPr/>
        </p:nvSpPr>
        <p:spPr>
          <a:xfrm>
            <a:off x="10584000" y="4059360"/>
            <a:ext cx="867960" cy="86940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17" name="Text 43"/>
          <p:cNvSpPr/>
          <p:nvPr/>
        </p:nvSpPr>
        <p:spPr>
          <a:xfrm>
            <a:off x="10584000" y="4059360"/>
            <a:ext cx="867960" cy="8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⚕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Text 44"/>
          <p:cNvSpPr/>
          <p:nvPr/>
        </p:nvSpPr>
        <p:spPr>
          <a:xfrm>
            <a:off x="10077480" y="5065560"/>
            <a:ext cx="18824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Efficient hospital management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Text 45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Text 46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11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21" name="object 3" descr=""/>
          <p:cNvPicPr/>
          <p:nvPr/>
        </p:nvPicPr>
        <p:blipFill>
          <a:blip r:embed="rId1"/>
          <a:stretch/>
        </p:blipFill>
        <p:spPr>
          <a:xfrm>
            <a:off x="9783720" y="238320"/>
            <a:ext cx="213012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0"/>
          <p:cNvSpPr/>
          <p:nvPr/>
        </p:nvSpPr>
        <p:spPr>
          <a:xfrm>
            <a:off x="0" y="0"/>
            <a:ext cx="12188520" cy="55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23" name="Shape 2"/>
          <p:cNvSpPr/>
          <p:nvPr/>
        </p:nvSpPr>
        <p:spPr>
          <a:xfrm>
            <a:off x="457200" y="328680"/>
            <a:ext cx="82080" cy="50292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rIns="4104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24" name="Text 3"/>
          <p:cNvSpPr/>
          <p:nvPr/>
        </p:nvSpPr>
        <p:spPr>
          <a:xfrm>
            <a:off x="685800" y="274680"/>
            <a:ext cx="8686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Key Constraints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5" name="Text 4"/>
          <p:cNvSpPr/>
          <p:nvPr/>
        </p:nvSpPr>
        <p:spPr>
          <a:xfrm>
            <a:off x="8778960" y="38412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300" strike="noStrike" u="none">
                <a:solidFill>
                  <a:srgbClr val="dcebf7"/>
                </a:solidFill>
                <a:uFillTx/>
                <a:latin typeface="Calibri"/>
                <a:ea typeface="Calibri"/>
              </a:rPr>
              <a:t>09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Shape 5"/>
          <p:cNvSpPr/>
          <p:nvPr/>
        </p:nvSpPr>
        <p:spPr>
          <a:xfrm>
            <a:off x="549360" y="1463760"/>
            <a:ext cx="3565080" cy="2010960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27" name="Shape 6"/>
          <p:cNvSpPr/>
          <p:nvPr/>
        </p:nvSpPr>
        <p:spPr>
          <a:xfrm>
            <a:off x="549360" y="1463760"/>
            <a:ext cx="3565080" cy="90000"/>
          </a:xfrm>
          <a:prstGeom prst="roundRect">
            <a:avLst>
              <a:gd name="adj" fmla="val 30000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28" name="Shape 7"/>
          <p:cNvSpPr/>
          <p:nvPr/>
        </p:nvSpPr>
        <p:spPr>
          <a:xfrm>
            <a:off x="804960" y="1847880"/>
            <a:ext cx="658440" cy="65700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29" name="Text 8"/>
          <p:cNvSpPr/>
          <p:nvPr/>
        </p:nvSpPr>
        <p:spPr>
          <a:xfrm>
            <a:off x="804960" y="1847880"/>
            <a:ext cx="65844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◆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Text 9"/>
          <p:cNvSpPr/>
          <p:nvPr/>
        </p:nvSpPr>
        <p:spPr>
          <a:xfrm>
            <a:off x="1600200" y="1874880"/>
            <a:ext cx="2285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Entity Integrity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Text 10"/>
          <p:cNvSpPr/>
          <p:nvPr/>
        </p:nvSpPr>
        <p:spPr>
          <a:xfrm>
            <a:off x="822240" y="2633760"/>
            <a:ext cx="30175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98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Every primary key (Patient_ID, Doctor_ID...) must be unique and never NULL.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Shape 11"/>
          <p:cNvSpPr/>
          <p:nvPr/>
        </p:nvSpPr>
        <p:spPr>
          <a:xfrm>
            <a:off x="4316400" y="1463760"/>
            <a:ext cx="3565080" cy="2010960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33" name="Shape 12"/>
          <p:cNvSpPr/>
          <p:nvPr/>
        </p:nvSpPr>
        <p:spPr>
          <a:xfrm>
            <a:off x="4316400" y="1463760"/>
            <a:ext cx="3565080" cy="90000"/>
          </a:xfrm>
          <a:prstGeom prst="roundRect">
            <a:avLst>
              <a:gd name="adj" fmla="val 30000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34" name="Shape 13"/>
          <p:cNvSpPr/>
          <p:nvPr/>
        </p:nvSpPr>
        <p:spPr>
          <a:xfrm>
            <a:off x="4572000" y="1847880"/>
            <a:ext cx="658440" cy="65700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35" name="Text 14"/>
          <p:cNvSpPr/>
          <p:nvPr/>
        </p:nvSpPr>
        <p:spPr>
          <a:xfrm>
            <a:off x="4572000" y="1847880"/>
            <a:ext cx="65844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↔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Text 15"/>
          <p:cNvSpPr/>
          <p:nvPr/>
        </p:nvSpPr>
        <p:spPr>
          <a:xfrm>
            <a:off x="5367240" y="1874880"/>
            <a:ext cx="2285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Referential Integrity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Text 16"/>
          <p:cNvSpPr/>
          <p:nvPr/>
        </p:nvSpPr>
        <p:spPr>
          <a:xfrm>
            <a:off x="4591080" y="2633760"/>
            <a:ext cx="30157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98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Appointment.Doctor_ID must match an existing Doctor row.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Shape 17"/>
          <p:cNvSpPr/>
          <p:nvPr/>
        </p:nvSpPr>
        <p:spPr>
          <a:xfrm>
            <a:off x="8083440" y="1463760"/>
            <a:ext cx="3565440" cy="2010960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39" name="Shape 18"/>
          <p:cNvSpPr/>
          <p:nvPr/>
        </p:nvSpPr>
        <p:spPr>
          <a:xfrm>
            <a:off x="8083440" y="1463760"/>
            <a:ext cx="3565440" cy="90000"/>
          </a:xfrm>
          <a:prstGeom prst="roundRect">
            <a:avLst>
              <a:gd name="adj" fmla="val 30000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0" name="Shape 19"/>
          <p:cNvSpPr/>
          <p:nvPr/>
        </p:nvSpPr>
        <p:spPr>
          <a:xfrm>
            <a:off x="8339040" y="1847880"/>
            <a:ext cx="658440" cy="65700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1" name="Text 20"/>
          <p:cNvSpPr/>
          <p:nvPr/>
        </p:nvSpPr>
        <p:spPr>
          <a:xfrm>
            <a:off x="8339040" y="1847880"/>
            <a:ext cx="65844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✓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Text 21"/>
          <p:cNvSpPr/>
          <p:nvPr/>
        </p:nvSpPr>
        <p:spPr>
          <a:xfrm>
            <a:off x="9134640" y="1874880"/>
            <a:ext cx="2285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Domain Constraints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Text 22"/>
          <p:cNvSpPr/>
          <p:nvPr/>
        </p:nvSpPr>
        <p:spPr>
          <a:xfrm>
            <a:off x="8358120" y="2633760"/>
            <a:ext cx="301608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98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Age is numeric, Gender ∈ {M, F, O}, Amount ≥ 0, Date is a valid date.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Shape 23"/>
          <p:cNvSpPr/>
          <p:nvPr/>
        </p:nvSpPr>
        <p:spPr>
          <a:xfrm>
            <a:off x="2432160" y="3749760"/>
            <a:ext cx="3566520" cy="2010960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5" name="Shape 24"/>
          <p:cNvSpPr/>
          <p:nvPr/>
        </p:nvSpPr>
        <p:spPr>
          <a:xfrm>
            <a:off x="2432160" y="3749760"/>
            <a:ext cx="3566520" cy="90000"/>
          </a:xfrm>
          <a:prstGeom prst="roundRect">
            <a:avLst>
              <a:gd name="adj" fmla="val 30000"/>
            </a:avLst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6" name="Shape 25"/>
          <p:cNvSpPr/>
          <p:nvPr/>
        </p:nvSpPr>
        <p:spPr>
          <a:xfrm>
            <a:off x="2687760" y="4133880"/>
            <a:ext cx="658440" cy="657000"/>
          </a:xfrm>
          <a:prstGeom prst="ellipse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7" name="Text 26"/>
          <p:cNvSpPr/>
          <p:nvPr/>
        </p:nvSpPr>
        <p:spPr>
          <a:xfrm>
            <a:off x="2687760" y="4133880"/>
            <a:ext cx="65844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✖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Text 27"/>
          <p:cNvSpPr/>
          <p:nvPr/>
        </p:nvSpPr>
        <p:spPr>
          <a:xfrm>
            <a:off x="3484440" y="4160880"/>
            <a:ext cx="2285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NOT NULL Constraints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Text 28"/>
          <p:cNvSpPr/>
          <p:nvPr/>
        </p:nvSpPr>
        <p:spPr>
          <a:xfrm>
            <a:off x="2706840" y="4919760"/>
            <a:ext cx="301716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98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Name, Phone, Appointment Date and Bill Amount cannot be empty.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Shape 29"/>
          <p:cNvSpPr/>
          <p:nvPr/>
        </p:nvSpPr>
        <p:spPr>
          <a:xfrm>
            <a:off x="6199200" y="3749760"/>
            <a:ext cx="3566880" cy="2010960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12600">
            <a:solidFill>
              <a:srgbClr val="d6e3ee"/>
            </a:solidFill>
            <a:miter/>
          </a:ln>
          <a:effectLst>
            <a:outerShdw dir="5400000" dist="12600" rotWithShape="0">
              <a:srgbClr val="9fb3c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51" name="Shape 30"/>
          <p:cNvSpPr/>
          <p:nvPr/>
        </p:nvSpPr>
        <p:spPr>
          <a:xfrm>
            <a:off x="6199200" y="3749760"/>
            <a:ext cx="3566880" cy="90000"/>
          </a:xfrm>
          <a:prstGeom prst="roundRect">
            <a:avLst>
              <a:gd name="adj" fmla="val 30000"/>
            </a:avLst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52" name="Shape 31"/>
          <p:cNvSpPr/>
          <p:nvPr/>
        </p:nvSpPr>
        <p:spPr>
          <a:xfrm>
            <a:off x="6456240" y="4133880"/>
            <a:ext cx="657000" cy="657000"/>
          </a:xfrm>
          <a:prstGeom prst="ellipse">
            <a:avLst/>
          </a:prstGeom>
          <a:solidFill>
            <a:srgbClr val="1668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53" name="Text 32"/>
          <p:cNvSpPr/>
          <p:nvPr/>
        </p:nvSpPr>
        <p:spPr>
          <a:xfrm>
            <a:off x="6456240" y="4133880"/>
            <a:ext cx="657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★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Text 33"/>
          <p:cNvSpPr/>
          <p:nvPr/>
        </p:nvSpPr>
        <p:spPr>
          <a:xfrm>
            <a:off x="7251840" y="4160880"/>
            <a:ext cx="2285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500" strike="noStrike" u="none">
                <a:solidFill>
                  <a:srgbClr val="0b3c6b"/>
                </a:solidFill>
                <a:uFillTx/>
                <a:latin typeface="Calibri"/>
                <a:ea typeface="Calibri"/>
              </a:rPr>
              <a:t>UNIQUE Constraints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5" name="Text 34"/>
          <p:cNvSpPr/>
          <p:nvPr/>
        </p:nvSpPr>
        <p:spPr>
          <a:xfrm>
            <a:off x="6473880" y="4919760"/>
            <a:ext cx="301752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98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Phone number and Medicine_Name are unique across the table.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6" name="Text 35"/>
          <p:cNvSpPr/>
          <p:nvPr/>
        </p:nvSpPr>
        <p:spPr>
          <a:xfrm>
            <a:off x="457200" y="6354720"/>
            <a:ext cx="73148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5a6b7b"/>
                </a:solidFill>
                <a:uFillTx/>
                <a:latin typeface="Calibri"/>
                <a:ea typeface="Calibri"/>
              </a:rPr>
              <a:t>Hospital Management System  |  DBMS Mini Project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7" name="Text 36"/>
          <p:cNvSpPr/>
          <p:nvPr/>
        </p:nvSpPr>
        <p:spPr>
          <a:xfrm>
            <a:off x="11247480" y="6354720"/>
            <a:ext cx="502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100" strike="noStrike" u="none">
                <a:solidFill>
                  <a:srgbClr val="1668a8"/>
                </a:solidFill>
                <a:uFillTx/>
                <a:latin typeface="Calibri"/>
                <a:ea typeface="Calibri"/>
              </a:rPr>
              <a:t>10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58" name="object 3" descr=""/>
          <p:cNvPicPr/>
          <p:nvPr/>
        </p:nvPicPr>
        <p:blipFill>
          <a:blip r:embed="rId1"/>
          <a:stretch/>
        </p:blipFill>
        <p:spPr>
          <a:xfrm>
            <a:off x="9783720" y="238320"/>
            <a:ext cx="213012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Picture 2" descr=""/>
          <p:cNvPicPr/>
          <p:nvPr/>
        </p:nvPicPr>
        <p:blipFill>
          <a:blip r:embed="rId1"/>
          <a:stretch/>
        </p:blipFill>
        <p:spPr>
          <a:xfrm>
            <a:off x="1137960" y="259200"/>
            <a:ext cx="9346680" cy="633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0" name="object 3" descr=""/>
          <p:cNvPicPr/>
          <p:nvPr/>
        </p:nvPicPr>
        <p:blipFill>
          <a:blip r:embed="rId2"/>
          <a:stretch/>
        </p:blipFill>
        <p:spPr>
          <a:xfrm>
            <a:off x="10221120" y="40680"/>
            <a:ext cx="181296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2" descr=""/>
          <p:cNvPicPr/>
          <p:nvPr/>
        </p:nvPicPr>
        <p:blipFill>
          <a:blip r:embed="rId1"/>
          <a:stretch/>
        </p:blipFill>
        <p:spPr>
          <a:xfrm>
            <a:off x="965160" y="406440"/>
            <a:ext cx="9407880" cy="62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object 3" descr=""/>
          <p:cNvPicPr/>
          <p:nvPr/>
        </p:nvPicPr>
        <p:blipFill>
          <a:blip r:embed="rId2"/>
          <a:stretch/>
        </p:blipFill>
        <p:spPr>
          <a:xfrm>
            <a:off x="10447920" y="191160"/>
            <a:ext cx="156096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Picture 2" descr=""/>
          <p:cNvPicPr/>
          <p:nvPr/>
        </p:nvPicPr>
        <p:blipFill>
          <a:blip r:embed="rId1"/>
          <a:stretch/>
        </p:blipFill>
        <p:spPr>
          <a:xfrm>
            <a:off x="873720" y="497880"/>
            <a:ext cx="9946440" cy="611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4" name="object 3" descr=""/>
          <p:cNvPicPr/>
          <p:nvPr/>
        </p:nvPicPr>
        <p:blipFill>
          <a:blip r:embed="rId2"/>
          <a:stretch/>
        </p:blipFill>
        <p:spPr>
          <a:xfrm>
            <a:off x="10632240" y="20160"/>
            <a:ext cx="156096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Picture 2" descr=""/>
          <p:cNvPicPr/>
          <p:nvPr/>
        </p:nvPicPr>
        <p:blipFill>
          <a:blip r:embed="rId1"/>
          <a:stretch/>
        </p:blipFill>
        <p:spPr>
          <a:xfrm>
            <a:off x="762120" y="162720"/>
            <a:ext cx="9936360" cy="639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6" name="object 3" descr=""/>
          <p:cNvPicPr/>
          <p:nvPr/>
        </p:nvPicPr>
        <p:blipFill>
          <a:blip r:embed="rId2"/>
          <a:stretch/>
        </p:blipFill>
        <p:spPr>
          <a:xfrm>
            <a:off x="10698840" y="20160"/>
            <a:ext cx="149436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/>
          <p:cNvSpPr/>
          <p:nvPr/>
        </p:nvSpPr>
        <p:spPr>
          <a:xfrm>
            <a:off x="0" y="0"/>
            <a:ext cx="12188520" cy="8208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5640" bIns="35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68" name="Text 3"/>
          <p:cNvSpPr/>
          <p:nvPr/>
        </p:nvSpPr>
        <p:spPr>
          <a:xfrm>
            <a:off x="777960" y="1077480"/>
            <a:ext cx="5486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chemeClr val="dk2">
                    <a:lumMod val="95000"/>
                    <a:lumOff val="5000"/>
                  </a:schemeClr>
                </a:solidFill>
                <a:uFillTx/>
                <a:latin typeface="Calibri"/>
                <a:ea typeface="Calibri"/>
              </a:rPr>
              <a:t>CONCLUSION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Text 4"/>
          <p:cNvSpPr/>
          <p:nvPr/>
        </p:nvSpPr>
        <p:spPr>
          <a:xfrm>
            <a:off x="429480" y="1471320"/>
            <a:ext cx="7497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</a:t>
            </a:r>
            <a:r>
              <a:rPr b="1" lang="en-US" sz="3000" strike="noStrike" u="none">
                <a:solidFill>
                  <a:srgbClr val="002060"/>
                </a:solidFill>
                <a:uFillTx/>
                <a:latin typeface="Calibri"/>
                <a:ea typeface="Calibri"/>
              </a:rPr>
              <a:t> centralized database for smarter hospitals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Text 5"/>
          <p:cNvSpPr/>
          <p:nvPr/>
        </p:nvSpPr>
        <p:spPr>
          <a:xfrm>
            <a:off x="777960" y="2149560"/>
            <a:ext cx="84117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5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chemeClr val="dk2"/>
                </a:solidFill>
                <a:uFillTx/>
                <a:latin typeface="Calibri"/>
                <a:ea typeface="Calibri"/>
              </a:rPr>
              <a:t>The Hospital Management System automates hospital operations through a centralized relational database. It removes redundancy, enforces integrity constraints, secures medical records, reduces paperwork and ultimately enhances the quality of patient care.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Shape 6"/>
          <p:cNvSpPr/>
          <p:nvPr/>
        </p:nvSpPr>
        <p:spPr>
          <a:xfrm>
            <a:off x="777960" y="3521160"/>
            <a:ext cx="1964880" cy="656640"/>
          </a:xfrm>
          <a:prstGeom prst="roundRect">
            <a:avLst>
              <a:gd name="adj" fmla="val 11111"/>
            </a:avLst>
          </a:prstGeom>
          <a:solidFill>
            <a:srgbClr val="10497f"/>
          </a:solidFill>
          <a:ln w="12600">
            <a:solidFill>
              <a:srgbClr val="12a59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72" name="Text 7"/>
          <p:cNvSpPr/>
          <p:nvPr/>
        </p:nvSpPr>
        <p:spPr>
          <a:xfrm>
            <a:off x="777960" y="3521160"/>
            <a:ext cx="19648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Automation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Shape 8"/>
          <p:cNvSpPr/>
          <p:nvPr/>
        </p:nvSpPr>
        <p:spPr>
          <a:xfrm>
            <a:off x="2925720" y="3521160"/>
            <a:ext cx="1966680" cy="656640"/>
          </a:xfrm>
          <a:prstGeom prst="roundRect">
            <a:avLst>
              <a:gd name="adj" fmla="val 11111"/>
            </a:avLst>
          </a:prstGeom>
          <a:solidFill>
            <a:srgbClr val="10497f"/>
          </a:solidFill>
          <a:ln w="12600">
            <a:solidFill>
              <a:srgbClr val="12a59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74" name="Text 9"/>
          <p:cNvSpPr/>
          <p:nvPr/>
        </p:nvSpPr>
        <p:spPr>
          <a:xfrm>
            <a:off x="2925720" y="3521160"/>
            <a:ext cx="1966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Data integrity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Shape 10"/>
          <p:cNvSpPr/>
          <p:nvPr/>
        </p:nvSpPr>
        <p:spPr>
          <a:xfrm>
            <a:off x="5075280" y="3521160"/>
            <a:ext cx="1964880" cy="656640"/>
          </a:xfrm>
          <a:prstGeom prst="roundRect">
            <a:avLst>
              <a:gd name="adj" fmla="val 11111"/>
            </a:avLst>
          </a:prstGeom>
          <a:solidFill>
            <a:srgbClr val="10497f"/>
          </a:solidFill>
          <a:ln w="12600">
            <a:solidFill>
              <a:srgbClr val="12a59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76" name="Text 11"/>
          <p:cNvSpPr/>
          <p:nvPr/>
        </p:nvSpPr>
        <p:spPr>
          <a:xfrm>
            <a:off x="5075280" y="3521160"/>
            <a:ext cx="19648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Security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7" name="Shape 12"/>
          <p:cNvSpPr/>
          <p:nvPr/>
        </p:nvSpPr>
        <p:spPr>
          <a:xfrm>
            <a:off x="7223040" y="3521160"/>
            <a:ext cx="1966680" cy="656640"/>
          </a:xfrm>
          <a:prstGeom prst="roundRect">
            <a:avLst>
              <a:gd name="adj" fmla="val 11111"/>
            </a:avLst>
          </a:prstGeom>
          <a:solidFill>
            <a:srgbClr val="10497f"/>
          </a:solidFill>
          <a:ln w="12600">
            <a:solidFill>
              <a:srgbClr val="12a59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78" name="Text 13"/>
          <p:cNvSpPr/>
          <p:nvPr/>
        </p:nvSpPr>
        <p:spPr>
          <a:xfrm>
            <a:off x="7223040" y="3521160"/>
            <a:ext cx="19666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Efficiency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Shape 14"/>
          <p:cNvSpPr/>
          <p:nvPr/>
        </p:nvSpPr>
        <p:spPr>
          <a:xfrm>
            <a:off x="9372600" y="3521160"/>
            <a:ext cx="1964880" cy="656640"/>
          </a:xfrm>
          <a:prstGeom prst="roundRect">
            <a:avLst>
              <a:gd name="adj" fmla="val 11111"/>
            </a:avLst>
          </a:prstGeom>
          <a:solidFill>
            <a:srgbClr val="10497f"/>
          </a:solidFill>
          <a:ln w="12600">
            <a:solidFill>
              <a:srgbClr val="12a59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80" name="Text 15"/>
          <p:cNvSpPr/>
          <p:nvPr/>
        </p:nvSpPr>
        <p:spPr>
          <a:xfrm>
            <a:off x="9372600" y="3521160"/>
            <a:ext cx="196488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Better patient care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1" name="Shape 16"/>
          <p:cNvSpPr/>
          <p:nvPr/>
        </p:nvSpPr>
        <p:spPr>
          <a:xfrm>
            <a:off x="777960" y="4664160"/>
            <a:ext cx="10605600" cy="16920"/>
          </a:xfrm>
          <a:prstGeom prst="rect">
            <a:avLst/>
          </a:prstGeom>
          <a:solidFill>
            <a:srgbClr val="1e6e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520" bIns="-295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82" name="Text 17"/>
          <p:cNvSpPr/>
          <p:nvPr/>
        </p:nvSpPr>
        <p:spPr>
          <a:xfrm>
            <a:off x="777960" y="489276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chemeClr val="accent2">
                    <a:lumMod val="60000"/>
                    <a:lumOff val="40000"/>
                  </a:schemeClr>
                </a:solidFill>
                <a:uFillTx/>
                <a:latin typeface="Calibri"/>
                <a:ea typeface="Calibri"/>
              </a:rPr>
              <a:t>Thank You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Text 18"/>
          <p:cNvSpPr/>
          <p:nvPr/>
        </p:nvSpPr>
        <p:spPr>
          <a:xfrm>
            <a:off x="777960" y="5807160"/>
            <a:ext cx="640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8fd4cb"/>
                </a:solidFill>
                <a:uFillTx/>
                <a:latin typeface="Calibri"/>
                <a:ea typeface="Calibri"/>
              </a:rPr>
              <a:t>Questions are welcome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4" name="Shape 19"/>
          <p:cNvSpPr/>
          <p:nvPr/>
        </p:nvSpPr>
        <p:spPr>
          <a:xfrm>
            <a:off x="9829800" y="5075280"/>
            <a:ext cx="1234800" cy="38376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85" name="Shape 20"/>
          <p:cNvSpPr/>
          <p:nvPr/>
        </p:nvSpPr>
        <p:spPr>
          <a:xfrm>
            <a:off x="10250640" y="4654440"/>
            <a:ext cx="383760" cy="1233360"/>
          </a:xfrm>
          <a:prstGeom prst="rect">
            <a:avLst/>
          </a:prstGeom>
          <a:solidFill>
            <a:srgbClr val="12a5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486" name="object 3" descr=""/>
          <p:cNvPicPr/>
          <p:nvPr/>
        </p:nvPicPr>
        <p:blipFill>
          <a:blip r:embed="rId1"/>
          <a:stretch/>
        </p:blipFill>
        <p:spPr>
          <a:xfrm>
            <a:off x="70200" y="169920"/>
            <a:ext cx="1690200" cy="65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object 2" descr=""/>
          <p:cNvPicPr/>
          <p:nvPr/>
        </p:nvPicPr>
        <p:blipFill>
          <a:blip r:embed="rId1"/>
          <a:stretch/>
        </p:blipFill>
        <p:spPr>
          <a:xfrm>
            <a:off x="3579840" y="183240"/>
            <a:ext cx="5033880" cy="62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TextBox 3"/>
          <p:cNvSpPr/>
          <p:nvPr/>
        </p:nvSpPr>
        <p:spPr>
          <a:xfrm>
            <a:off x="3088080" y="2732040"/>
            <a:ext cx="60174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9600" strike="noStrike" u="none">
                <a:solidFill>
                  <a:schemeClr val="accent3">
                    <a:lumMod val="60000"/>
                    <a:lumOff val="40000"/>
                  </a:schemeClr>
                </a:solidFill>
                <a:uFillTx/>
                <a:latin typeface="comic"/>
                <a:ea typeface="DejaVu Sans"/>
              </a:rPr>
              <a:t>Thank you</a:t>
            </a:r>
            <a:endParaRPr b="0" lang="en-US" sz="9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Application>LibreOfficeDev/24.8.7.2.0$Android_AARCH64 LibreOffice_project/</Application>
  <AppVersion>15.0000</AppVersion>
  <Words>976</Words>
  <Paragraphs>327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2026-08-06T17:22:41Z</dcterms:created>
  <dc:creator>DBMS Mini Project</dc:creator>
  <dc:description/>
  <dc:language>en-US</dc:language>
  <cp:lastModifiedBy>cloudconvert_10</cp:lastModifiedBy>
  <dcterms:modified xsi:type="dcterms:W3CDTF">2026-08-09T04:46:30Z</dcterms:modified>
  <cp:revision>2</cp:revision>
  <dc:subject>PptxGenJS Presentation</dc:subject>
  <dc:title>Hospital Management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Custom</vt:lpwstr>
  </property>
  <property fmtid="{D5CDD505-2E9C-101B-9397-08002B2CF9AE}" pid="4" name="Slides">
    <vt:i4>18</vt:i4>
  </property>
</Properties>
</file>